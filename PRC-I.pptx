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15"/>
  </p:notesMasterIdLst>
  <p:handoutMasterIdLst>
    <p:handoutMasterId r:id="rId16"/>
  </p:handoutMasterIdLst>
  <p:sldIdLst>
    <p:sldId id="338" r:id="rId3"/>
    <p:sldId id="322" r:id="rId4"/>
    <p:sldId id="351" r:id="rId5"/>
    <p:sldId id="357" r:id="rId6"/>
    <p:sldId id="350" r:id="rId7"/>
    <p:sldId id="352" r:id="rId8"/>
    <p:sldId id="353" r:id="rId9"/>
    <p:sldId id="354" r:id="rId10"/>
    <p:sldId id="358" r:id="rId11"/>
    <p:sldId id="355" r:id="rId12"/>
    <p:sldId id="356" r:id="rId13"/>
    <p:sldId id="332" r:id="rId14"/>
  </p:sldIdLst>
  <p:sldSz cx="12192000" cy="6858000"/>
  <p:notesSz cx="7102475" cy="9037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58"/>
    <p:restoredTop sz="95833"/>
  </p:normalViewPr>
  <p:slideViewPr>
    <p:cSldViewPr snapToGrid="0" snapToObjects="1">
      <p:cViewPr varScale="1">
        <p:scale>
          <a:sx n="81" d="100"/>
          <a:sy n="81" d="100"/>
        </p:scale>
        <p:origin x="605" y="67"/>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53451"/>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p:cNvSpPr>
            <a:spLocks noGrp="1"/>
          </p:cNvSpPr>
          <p:nvPr>
            <p:ph type="ftr" sz="quarter" idx="2"/>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584188"/>
            <a:ext cx="3077739" cy="453450"/>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56171" cy="453451"/>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20-08-2026</a:t>
            </a:fld>
            <a:endParaRPr lang="en-US"/>
          </a:p>
        </p:txBody>
      </p:sp>
      <p:sp>
        <p:nvSpPr>
          <p:cNvPr id="5" name="Footer Placeholder 4"/>
          <p:cNvSpPr>
            <a:spLocks noGrp="1"/>
          </p:cNvSpPr>
          <p:nvPr>
            <p:ph type="ftr" sz="quarter" idx="11"/>
          </p:nvPr>
        </p:nvSpPr>
        <p:spPr/>
        <p:txBody>
          <a:bodyPr/>
          <a:lstStyle/>
          <a:p>
            <a:r>
              <a:rPr lang="en-US" dirty="0"/>
              <a:t>REVIEW – 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20-08-2026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20-08-2026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20-08-2026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20-08-2026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20-08-2026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 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20-08-2026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19609" y="595713"/>
            <a:ext cx="10515600" cy="1100826"/>
          </a:xfrm>
        </p:spPr>
        <p:txBody>
          <a:bodyPr>
            <a:noAutofit/>
          </a:bodyPr>
          <a:lstStyle/>
          <a:p>
            <a:pPr algn="ctr">
              <a:lnSpc>
                <a:spcPct val="100000"/>
              </a:lnSpc>
            </a:pPr>
            <a:r>
              <a:rPr lang="da-DK" sz="2400" b="1" dirty="0">
                <a:solidFill>
                  <a:srgbClr val="FF0000"/>
                </a:solidFill>
                <a:latin typeface="Times New Roman" panose="02020603050405020304" pitchFamily="18" charset="0"/>
                <a:cs typeface="Times New Roman" panose="02020603050405020304" pitchFamily="18" charset="0"/>
              </a:rPr>
              <a:t>ENGINEERING CAPSTONE PROJECT – 1/INDUSTRIAL INTERNSHIP/ INDUSTRIAL INTERNSHIP PHASE-I</a:t>
            </a:r>
            <a:br>
              <a:rPr lang="da-DK" sz="2400" b="1" dirty="0">
                <a:latin typeface="Times New Roman" panose="02020603050405020304" pitchFamily="18" charset="0"/>
                <a:cs typeface="Times New Roman" panose="02020603050405020304" pitchFamily="18" charset="0"/>
              </a:rPr>
            </a:br>
            <a:r>
              <a:rPr lang="da-DK" sz="2400" b="1" dirty="0">
                <a:solidFill>
                  <a:srgbClr val="0070C0"/>
                </a:solidFill>
                <a:latin typeface="Times New Roman" panose="02020603050405020304" pitchFamily="18" charset="0"/>
                <a:cs typeface="Times New Roman" panose="02020603050405020304" pitchFamily="18" charset="0"/>
              </a:rPr>
              <a:t>Project Review-1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solidFill>
                  <a:schemeClr val="accent6"/>
                </a:solidFill>
                <a:latin typeface="Times New Roman" panose="02020603050405020304" pitchFamily="18" charset="0"/>
                <a:cs typeface="Times New Roman" panose="02020603050405020304" pitchFamily="18" charset="0"/>
              </a:rPr>
              <a:t>Project Title</a:t>
            </a:r>
            <a:endParaRPr lang="en-US" altLang="en-US" sz="2400"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12247" y="2265079"/>
            <a:ext cx="10515600" cy="1097555"/>
          </a:xfrm>
        </p:spPr>
        <p:txBody>
          <a:bodyPr>
            <a:noAutofit/>
          </a:bodyPr>
          <a:lstStyle/>
          <a:p>
            <a:pPr marL="0" indent="0" algn="ctr">
              <a:buNone/>
            </a:pPr>
            <a:r>
              <a:rPr lang="en-IN" sz="2000" b="1" dirty="0"/>
              <a:t>Team No-</a:t>
            </a:r>
          </a:p>
          <a:p>
            <a:pPr marL="0" indent="0" algn="ctr">
              <a:buNone/>
            </a:pPr>
            <a:r>
              <a:rPr lang="en-IN" sz="2000" b="1" dirty="0"/>
              <a:t>Roll No		Name</a:t>
            </a: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20-08-2026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61417" y="3362634"/>
            <a:ext cx="10515600" cy="180629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r>
              <a:rPr lang="en-US" sz="2400" dirty="0">
                <a:solidFill>
                  <a:srgbClr val="00B050"/>
                </a:solidFill>
              </a:rPr>
              <a:t>Under the Guidance of</a:t>
            </a:r>
          </a:p>
          <a:p>
            <a:pPr marL="0" indent="0" algn="ctr">
              <a:buNone/>
            </a:pPr>
            <a:r>
              <a:rPr lang="en-US" sz="2400" dirty="0">
                <a:solidFill>
                  <a:srgbClr val="00B050"/>
                </a:solidFill>
              </a:rPr>
              <a:t>Guide Name</a:t>
            </a:r>
          </a:p>
          <a:p>
            <a:pPr marL="0" indent="0" algn="ctr">
              <a:buNone/>
            </a:pPr>
            <a:r>
              <a:rPr lang="en-US" sz="2400" dirty="0">
                <a:solidFill>
                  <a:srgbClr val="00B050"/>
                </a:solidFill>
              </a:rPr>
              <a:t>Designation</a:t>
            </a: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395" y="5136862"/>
            <a:ext cx="2175809" cy="897941"/>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Literature Survey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Research Gap Identification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Innovation, Creativity, and Novelty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Feasibility and Project Plan</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PRC-I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Background of the topic</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Importance of the project you selected</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Clearly define what problem is being solved</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Application</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4174-E81B-4768-8B99-C41881EF5EA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54E84203-8F93-4071-A37C-6A9C3BB16CA1}"/>
              </a:ext>
            </a:extLst>
          </p:cNvPr>
          <p:cNvSpPr>
            <a:spLocks noGrp="1"/>
          </p:cNvSpPr>
          <p:nvPr>
            <p:ph idx="1"/>
          </p:nvPr>
        </p:nvSpPr>
        <p:spPr/>
        <p:txBody>
          <a:bodyPr/>
          <a:lstStyle/>
          <a:p>
            <a:pPr marL="0" indent="0" algn="just">
              <a:buNone/>
            </a:pPr>
            <a:r>
              <a:rPr lang="en-IN" dirty="0"/>
              <a:t>A </a:t>
            </a:r>
            <a:r>
              <a:rPr lang="en-IN" b="1" dirty="0"/>
              <a:t>research problem statement</a:t>
            </a:r>
            <a:r>
              <a:rPr lang="en-IN" dirty="0"/>
              <a:t> should be formulated based on the </a:t>
            </a:r>
            <a:r>
              <a:rPr lang="en-IN" b="1" dirty="0"/>
              <a:t>literature survey and the research gap identified</a:t>
            </a:r>
            <a:r>
              <a:rPr lang="en-IN" dirty="0"/>
              <a:t> from previous studies. It clearly defines the unresolved issue or limitation that the proposed research aims to address.</a:t>
            </a:r>
          </a:p>
          <a:p>
            <a:pPr marL="0" indent="0" algn="just">
              <a:buNone/>
            </a:pPr>
            <a:endParaRPr lang="en-IN" dirty="0"/>
          </a:p>
        </p:txBody>
      </p:sp>
      <p:sp>
        <p:nvSpPr>
          <p:cNvPr id="4" name="Date Placeholder 3">
            <a:extLst>
              <a:ext uri="{FF2B5EF4-FFF2-40B4-BE49-F238E27FC236}">
                <a16:creationId xmlns:a16="http://schemas.microsoft.com/office/drawing/2014/main" id="{0D185FB1-B28D-4C1B-A7FA-1B6AE4E26B08}"/>
              </a:ext>
            </a:extLst>
          </p:cNvPr>
          <p:cNvSpPr>
            <a:spLocks noGrp="1"/>
          </p:cNvSpPr>
          <p:nvPr>
            <p:ph type="dt" sz="half" idx="10"/>
          </p:nvPr>
        </p:nvSpPr>
        <p:spPr>
          <a:xfrm>
            <a:off x="838200" y="6365777"/>
            <a:ext cx="2743200" cy="365125"/>
          </a:xfrm>
        </p:spPr>
        <p:txBody>
          <a:bodyPr/>
          <a:lstStyle/>
          <a:p>
            <a:fld id="{C7A4DE8B-8D6B-8C46-B882-6A2CD2BC96F0}" type="datetime1">
              <a:rPr lang="en-IN" smtClean="0"/>
              <a:t>20-08-2026</a:t>
            </a:fld>
            <a:endParaRPr lang="en-US"/>
          </a:p>
        </p:txBody>
      </p:sp>
      <p:sp>
        <p:nvSpPr>
          <p:cNvPr id="6" name="Slide Number Placeholder 5">
            <a:extLst>
              <a:ext uri="{FF2B5EF4-FFF2-40B4-BE49-F238E27FC236}">
                <a16:creationId xmlns:a16="http://schemas.microsoft.com/office/drawing/2014/main" id="{52C09634-64A3-451F-B3E1-F9F54FC12B45}"/>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Footer Placeholder 2">
            <a:extLst>
              <a:ext uri="{FF2B5EF4-FFF2-40B4-BE49-F238E27FC236}">
                <a16:creationId xmlns:a16="http://schemas.microsoft.com/office/drawing/2014/main" id="{D9CC9555-106F-46B4-BA3D-25EA6B87723C}"/>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110319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What the project aims to achieve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Specific measurable goals</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Mention at least 4 objectives</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53D0FDF3-DB89-46A2-B389-76810F8CAAF1}"/>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Existing methods</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Research gap</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Why your approach is needed</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Mention 15-20 papers/Existing project that are most relevant to your project in the provided format(Preferably 2020 onwards papers):</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972415" y="3429000"/>
          <a:ext cx="8267541" cy="2701165"/>
        </p:xfrm>
        <a:graphic>
          <a:graphicData uri="http://schemas.openxmlformats.org/drawingml/2006/table">
            <a:tbl>
              <a:tblPr/>
              <a:tblGrid>
                <a:gridCol w="524392">
                  <a:extLst>
                    <a:ext uri="{9D8B030D-6E8A-4147-A177-3AD203B41FA5}">
                      <a16:colId xmlns:a16="http://schemas.microsoft.com/office/drawing/2014/main" val="2320967467"/>
                    </a:ext>
                  </a:extLst>
                </a:gridCol>
                <a:gridCol w="524392">
                  <a:extLst>
                    <a:ext uri="{9D8B030D-6E8A-4147-A177-3AD203B41FA5}">
                      <a16:colId xmlns:a16="http://schemas.microsoft.com/office/drawing/2014/main" val="1773147566"/>
                    </a:ext>
                  </a:extLst>
                </a:gridCol>
                <a:gridCol w="781009">
                  <a:extLst>
                    <a:ext uri="{9D8B030D-6E8A-4147-A177-3AD203B41FA5}">
                      <a16:colId xmlns:a16="http://schemas.microsoft.com/office/drawing/2014/main" val="3614679244"/>
                    </a:ext>
                  </a:extLst>
                </a:gridCol>
                <a:gridCol w="702908">
                  <a:extLst>
                    <a:ext uri="{9D8B030D-6E8A-4147-A177-3AD203B41FA5}">
                      <a16:colId xmlns:a16="http://schemas.microsoft.com/office/drawing/2014/main" val="1867444956"/>
                    </a:ext>
                  </a:extLst>
                </a:gridCol>
                <a:gridCol w="435134">
                  <a:extLst>
                    <a:ext uri="{9D8B030D-6E8A-4147-A177-3AD203B41FA5}">
                      <a16:colId xmlns:a16="http://schemas.microsoft.com/office/drawing/2014/main" val="2466615718"/>
                    </a:ext>
                  </a:extLst>
                </a:gridCol>
                <a:gridCol w="524392">
                  <a:extLst>
                    <a:ext uri="{9D8B030D-6E8A-4147-A177-3AD203B41FA5}">
                      <a16:colId xmlns:a16="http://schemas.microsoft.com/office/drawing/2014/main" val="3131005202"/>
                    </a:ext>
                  </a:extLst>
                </a:gridCol>
                <a:gridCol w="691751">
                  <a:extLst>
                    <a:ext uri="{9D8B030D-6E8A-4147-A177-3AD203B41FA5}">
                      <a16:colId xmlns:a16="http://schemas.microsoft.com/office/drawing/2014/main" val="2820496137"/>
                    </a:ext>
                  </a:extLst>
                </a:gridCol>
                <a:gridCol w="524392">
                  <a:extLst>
                    <a:ext uri="{9D8B030D-6E8A-4147-A177-3AD203B41FA5}">
                      <a16:colId xmlns:a16="http://schemas.microsoft.com/office/drawing/2014/main" val="3963344226"/>
                    </a:ext>
                  </a:extLst>
                </a:gridCol>
                <a:gridCol w="781009">
                  <a:extLst>
                    <a:ext uri="{9D8B030D-6E8A-4147-A177-3AD203B41FA5}">
                      <a16:colId xmlns:a16="http://schemas.microsoft.com/office/drawing/2014/main" val="824182350"/>
                    </a:ext>
                  </a:extLst>
                </a:gridCol>
                <a:gridCol w="926054">
                  <a:extLst>
                    <a:ext uri="{9D8B030D-6E8A-4147-A177-3AD203B41FA5}">
                      <a16:colId xmlns:a16="http://schemas.microsoft.com/office/drawing/2014/main" val="523834847"/>
                    </a:ext>
                  </a:extLst>
                </a:gridCol>
                <a:gridCol w="892582">
                  <a:extLst>
                    <a:ext uri="{9D8B030D-6E8A-4147-A177-3AD203B41FA5}">
                      <a16:colId xmlns:a16="http://schemas.microsoft.com/office/drawing/2014/main" val="1021730221"/>
                    </a:ext>
                  </a:extLst>
                </a:gridCol>
                <a:gridCol w="959526">
                  <a:extLst>
                    <a:ext uri="{9D8B030D-6E8A-4147-A177-3AD203B41FA5}">
                      <a16:colId xmlns:a16="http://schemas.microsoft.com/office/drawing/2014/main" val="44805945"/>
                    </a:ext>
                  </a:extLst>
                </a:gridCol>
              </a:tblGrid>
              <a:tr h="549953">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1932471">
                <a:tc>
                  <a:txBody>
                    <a:bodyPr/>
                    <a:lstStyle/>
                    <a:p>
                      <a:pPr algn="r" fontAlgn="ctr">
                        <a:buNone/>
                      </a:pPr>
                      <a:r>
                        <a:rPr lang="en-IN" sz="1000" b="1" i="0" u="none" strike="noStrike">
                          <a:solidFill>
                            <a:srgbClr val="000000"/>
                          </a:solidFill>
                          <a:effectLst/>
                          <a:latin typeface="Calibri" panose="020F0502020204030204" pitchFamily="34" charset="0"/>
                        </a:rPr>
                        <a:t>1</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Research Gap Identification</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493134"/>
            <a:ext cx="10515600" cy="1209961"/>
          </a:xfrm>
        </p:spPr>
        <p:txBody>
          <a:bodyPr>
            <a:normAutofit/>
          </a:bodyPr>
          <a:lstStyle/>
          <a:p>
            <a:pPr algn="just" eaLnBrk="0" fontAlgn="base" hangingPunct="0">
              <a:lnSpc>
                <a:spcPct val="100000"/>
              </a:lnSpc>
              <a:spcBef>
                <a:spcPct val="0"/>
              </a:spcBef>
              <a:spcAft>
                <a:spcPct val="0"/>
              </a:spcAft>
            </a:pPr>
            <a:r>
              <a:rPr lang="en-IN" sz="2000" b="1" dirty="0"/>
              <a:t>Research gap identification</a:t>
            </a:r>
            <a:r>
              <a:rPr lang="en-IN" sz="2000" dirty="0"/>
              <a:t> involves </a:t>
            </a:r>
            <a:r>
              <a:rPr lang="en-IN" sz="2000" dirty="0" err="1"/>
              <a:t>analyzing</a:t>
            </a:r>
            <a:r>
              <a:rPr lang="en-IN" sz="2000" dirty="0"/>
              <a:t> existing literature to identify limitations, unresolved issues, or areas that have not been adequately explored. The identified gap provides the basis for defining the research problem and developing the proposed research work.</a:t>
            </a:r>
          </a:p>
          <a:p>
            <a:pPr algn="just"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3" name="Table 2">
            <a:extLst>
              <a:ext uri="{FF2B5EF4-FFF2-40B4-BE49-F238E27FC236}">
                <a16:creationId xmlns:a16="http://schemas.microsoft.com/office/drawing/2014/main" id="{BEF1EDB7-8761-CEC4-B291-FF5C19314D39}"/>
              </a:ext>
            </a:extLst>
          </p:cNvPr>
          <p:cNvGraphicFramePr>
            <a:graphicFrameLocks noGrp="1"/>
          </p:cNvGraphicFramePr>
          <p:nvPr>
            <p:extLst>
              <p:ext uri="{D42A27DB-BD31-4B8C-83A1-F6EECF244321}">
                <p14:modId xmlns:p14="http://schemas.microsoft.com/office/powerpoint/2010/main" val="3523712854"/>
              </p:ext>
            </p:extLst>
          </p:nvPr>
        </p:nvGraphicFramePr>
        <p:xfrm>
          <a:off x="1562114" y="2762033"/>
          <a:ext cx="8779014" cy="3503294"/>
        </p:xfrm>
        <a:graphic>
          <a:graphicData uri="http://schemas.openxmlformats.org/drawingml/2006/table">
            <a:tbl>
              <a:tblPr/>
              <a:tblGrid>
                <a:gridCol w="820139">
                  <a:extLst>
                    <a:ext uri="{9D8B030D-6E8A-4147-A177-3AD203B41FA5}">
                      <a16:colId xmlns:a16="http://schemas.microsoft.com/office/drawing/2014/main" val="833555039"/>
                    </a:ext>
                  </a:extLst>
                </a:gridCol>
                <a:gridCol w="1034715">
                  <a:extLst>
                    <a:ext uri="{9D8B030D-6E8A-4147-A177-3AD203B41FA5}">
                      <a16:colId xmlns:a16="http://schemas.microsoft.com/office/drawing/2014/main" val="848811906"/>
                    </a:ext>
                  </a:extLst>
                </a:gridCol>
                <a:gridCol w="1524000">
                  <a:extLst>
                    <a:ext uri="{9D8B030D-6E8A-4147-A177-3AD203B41FA5}">
                      <a16:colId xmlns:a16="http://schemas.microsoft.com/office/drawing/2014/main" val="1963808402"/>
                    </a:ext>
                  </a:extLst>
                </a:gridCol>
                <a:gridCol w="2473822">
                  <a:extLst>
                    <a:ext uri="{9D8B030D-6E8A-4147-A177-3AD203B41FA5}">
                      <a16:colId xmlns:a16="http://schemas.microsoft.com/office/drawing/2014/main" val="7160780"/>
                    </a:ext>
                  </a:extLst>
                </a:gridCol>
                <a:gridCol w="1463169">
                  <a:extLst>
                    <a:ext uri="{9D8B030D-6E8A-4147-A177-3AD203B41FA5}">
                      <a16:colId xmlns:a16="http://schemas.microsoft.com/office/drawing/2014/main" val="315075706"/>
                    </a:ext>
                  </a:extLst>
                </a:gridCol>
                <a:gridCol w="1463169">
                  <a:extLst>
                    <a:ext uri="{9D8B030D-6E8A-4147-A177-3AD203B41FA5}">
                      <a16:colId xmlns:a16="http://schemas.microsoft.com/office/drawing/2014/main" val="3069808396"/>
                    </a:ext>
                  </a:extLst>
                </a:gridCol>
              </a:tblGrid>
              <a:tr h="374408">
                <a:tc>
                  <a:txBody>
                    <a:bodyPr/>
                    <a:lstStyle/>
                    <a:p>
                      <a:pPr>
                        <a:buNone/>
                      </a:pPr>
                      <a:r>
                        <a:rPr lang="en-IN" sz="1500" b="1" dirty="0" err="1"/>
                        <a:t>S.No</a:t>
                      </a:r>
                      <a:r>
                        <a:rPr lang="en-IN" sz="1500" b="1" dirty="0"/>
                        <a:t>.</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Paper Title</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Author Name(s)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Methodology / Model Used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Key Findings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Research Gap Identified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430168"/>
                  </a:ext>
                </a:extLst>
              </a:tr>
              <a:tr h="695329">
                <a:tc>
                  <a:txBody>
                    <a:bodyPr/>
                    <a:lstStyle/>
                    <a:p>
                      <a:pPr>
                        <a:buNone/>
                      </a:pPr>
                      <a:r>
                        <a:rPr lang="en-IN" sz="1500"/>
                        <a:t>1</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Title of Research Paper</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Author Name(s)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CNN / Transformer / Machine Learning / etc.</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Main result or contribution</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Clearly mention the limitation or unresolved problem</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118778"/>
                  </a:ext>
                </a:extLst>
              </a:tr>
              <a:tr h="534869">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5268322"/>
                  </a:ext>
                </a:extLst>
              </a:tr>
              <a:tr h="695329">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177523"/>
                  </a:ext>
                </a:extLst>
              </a:tr>
              <a:tr h="374408">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4071143"/>
                  </a:ext>
                </a:extLst>
              </a:tr>
              <a:tr h="374408">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dirty="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93651099"/>
                  </a:ext>
                </a:extLst>
              </a:tr>
            </a:tbl>
          </a:graphicData>
        </a:graphic>
      </p:graphicFrame>
      <p:sp>
        <p:nvSpPr>
          <p:cNvPr id="11" name="Footer Placeholder 2">
            <a:extLst>
              <a:ext uri="{FF2B5EF4-FFF2-40B4-BE49-F238E27FC236}">
                <a16:creationId xmlns:a16="http://schemas.microsoft.com/office/drawing/2014/main" id="{1A2691C9-D5FC-4B5D-BC2B-27DFE115B382}"/>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76234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Innovation, Creativity, and Novelty</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4" name="TextBox 3">
            <a:extLst>
              <a:ext uri="{FF2B5EF4-FFF2-40B4-BE49-F238E27FC236}">
                <a16:creationId xmlns:a16="http://schemas.microsoft.com/office/drawing/2014/main" id="{51EFC2A6-D5E1-4B0E-EBA1-4D4D15920815}"/>
              </a:ext>
            </a:extLst>
          </p:cNvPr>
          <p:cNvSpPr txBox="1"/>
          <p:nvPr/>
        </p:nvSpPr>
        <p:spPr>
          <a:xfrm>
            <a:off x="1180618" y="1858655"/>
            <a:ext cx="9593179" cy="2585323"/>
          </a:xfrm>
          <a:prstGeom prst="rect">
            <a:avLst/>
          </a:prstGeom>
          <a:noFill/>
        </p:spPr>
        <p:txBody>
          <a:bodyPr wrap="square">
            <a:spAutoFit/>
          </a:bodyPr>
          <a:lstStyle/>
          <a:p>
            <a:pPr>
              <a:buNone/>
            </a:pPr>
            <a:r>
              <a:rPr lang="en-IN" b="1" dirty="0"/>
              <a:t>Innovation</a:t>
            </a:r>
          </a:p>
          <a:p>
            <a:pPr marL="342900" lvl="0" indent="-342900">
              <a:buFont typeface="Arial" panose="020B0604020202020204" pitchFamily="34" charset="0"/>
              <a:buChar char="•"/>
            </a:pPr>
            <a:r>
              <a:rPr lang="en-IN" dirty="0"/>
              <a:t>New approach or solution proposed to address the identified research problem. </a:t>
            </a:r>
          </a:p>
          <a:p>
            <a:pPr marL="342900" lvl="0" indent="-342900">
              <a:buFont typeface="Arial" panose="020B0604020202020204" pitchFamily="34" charset="0"/>
              <a:buChar char="•"/>
            </a:pPr>
            <a:endParaRPr lang="en-IN" b="1" dirty="0"/>
          </a:p>
          <a:p>
            <a:pPr lvl="0"/>
            <a:r>
              <a:rPr lang="en-IN" b="1" dirty="0"/>
              <a:t>Creativity</a:t>
            </a:r>
          </a:p>
          <a:p>
            <a:pPr marL="342900" lvl="0" indent="-342900">
              <a:buFont typeface="Arial" panose="020B0604020202020204" pitchFamily="34" charset="0"/>
              <a:buChar char="•"/>
            </a:pPr>
            <a:r>
              <a:rPr lang="en-IN" dirty="0"/>
              <a:t>Demonstrate the unique ideas, design, architecture, or combination of techniques used in the proposed work.</a:t>
            </a:r>
          </a:p>
          <a:p>
            <a:pPr>
              <a:buNone/>
            </a:pPr>
            <a:endParaRPr lang="en-IN" b="1" dirty="0"/>
          </a:p>
          <a:p>
            <a:pPr>
              <a:buNone/>
            </a:pPr>
            <a:r>
              <a:rPr lang="en-IN" b="1" dirty="0"/>
              <a:t>Novelty</a:t>
            </a:r>
          </a:p>
          <a:p>
            <a:pPr marL="342900" lvl="0" indent="-342900">
              <a:buFont typeface="Arial" panose="020B0604020202020204" pitchFamily="34" charset="0"/>
              <a:buChar char="•"/>
            </a:pPr>
            <a:r>
              <a:rPr lang="en-IN" dirty="0"/>
              <a:t>Research gap addressed</a:t>
            </a:r>
          </a:p>
        </p:txBody>
      </p:sp>
      <p:sp>
        <p:nvSpPr>
          <p:cNvPr id="11" name="Footer Placeholder 2">
            <a:extLst>
              <a:ext uri="{FF2B5EF4-FFF2-40B4-BE49-F238E27FC236}">
                <a16:creationId xmlns:a16="http://schemas.microsoft.com/office/drawing/2014/main" id="{444AC3EB-3F86-4AA5-854B-7AEEB8EE2B2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350041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Feasibility and Project Plan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3" name="TextBox 2">
            <a:extLst>
              <a:ext uri="{FF2B5EF4-FFF2-40B4-BE49-F238E27FC236}">
                <a16:creationId xmlns:a16="http://schemas.microsoft.com/office/drawing/2014/main" id="{2CD0C162-AAFF-57D0-C6FC-922499511FB9}"/>
              </a:ext>
            </a:extLst>
          </p:cNvPr>
          <p:cNvSpPr txBox="1"/>
          <p:nvPr/>
        </p:nvSpPr>
        <p:spPr>
          <a:xfrm>
            <a:off x="994611" y="2009408"/>
            <a:ext cx="9224210" cy="1754326"/>
          </a:xfrm>
          <a:prstGeom prst="rect">
            <a:avLst/>
          </a:prstGeom>
          <a:noFill/>
        </p:spPr>
        <p:txBody>
          <a:bodyPr wrap="square" rtlCol="0">
            <a:spAutoFit/>
          </a:bodyPr>
          <a:lstStyle/>
          <a:p>
            <a:pPr algn="just"/>
            <a:r>
              <a:rPr lang="en-IN" b="1" dirty="0"/>
              <a:t>Feasibility:</a:t>
            </a:r>
            <a:r>
              <a:rPr lang="en-IN" dirty="0"/>
              <a:t> Assess the availability of required resources, datasets, tools, technology, and time to ensure successful implementation of the project.</a:t>
            </a:r>
          </a:p>
          <a:p>
            <a:pPr algn="just"/>
            <a:endParaRPr lang="en-IN" dirty="0"/>
          </a:p>
          <a:p>
            <a:pPr algn="just"/>
            <a:br>
              <a:rPr lang="en-IN" dirty="0"/>
            </a:br>
            <a:r>
              <a:rPr lang="en-IN" b="1" dirty="0"/>
              <a:t>Project Plan:</a:t>
            </a:r>
            <a:r>
              <a:rPr lang="en-IN" dirty="0"/>
              <a:t> Present a clear timeline covering literature survey, design, implementation, testing, evaluation, and final project completion.</a:t>
            </a:r>
          </a:p>
        </p:txBody>
      </p:sp>
      <p:sp>
        <p:nvSpPr>
          <p:cNvPr id="11" name="Footer Placeholder 2">
            <a:extLst>
              <a:ext uri="{FF2B5EF4-FFF2-40B4-BE49-F238E27FC236}">
                <a16:creationId xmlns:a16="http://schemas.microsoft.com/office/drawing/2014/main" id="{85505740-31D0-4B8F-B93F-9E8CA50A42B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89363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sz="2000" dirty="0"/>
              <a:t>Summary of the proposal</a:t>
            </a:r>
          </a:p>
          <a:p>
            <a:pPr eaLnBrk="0" fontAlgn="base" hangingPunct="0">
              <a:lnSpc>
                <a:spcPct val="100000"/>
              </a:lnSpc>
              <a:spcBef>
                <a:spcPct val="0"/>
              </a:spcBef>
              <a:spcAft>
                <a:spcPct val="0"/>
              </a:spcAft>
            </a:pPr>
            <a:r>
              <a:rPr lang="en-US" sz="2000" dirty="0"/>
              <a:t>Next steps for next evaluation phase</a:t>
            </a:r>
          </a:p>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31941C-C503-4469-8755-454FE6062E3B}"/>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71646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sz="2000" dirty="0"/>
              <a:t>Papers you referred to during the literature survey in API format.</a:t>
            </a:r>
          </a:p>
          <a:p>
            <a:pPr eaLnBrk="0" fontAlgn="base" hangingPunct="0">
              <a:lnSpc>
                <a:spcPct val="100000"/>
              </a:lnSpc>
              <a:spcBef>
                <a:spcPct val="0"/>
              </a:spcBef>
              <a:spcAft>
                <a:spcPct val="0"/>
              </a:spcAft>
            </a:pPr>
            <a:r>
              <a:rPr lang="en-US" sz="2000" dirty="0"/>
              <a:t>Any Sources you referred to, such as: </a:t>
            </a:r>
            <a:r>
              <a:rPr lang="en-IN" sz="2000" dirty="0"/>
              <a:t>Online Learning Resources, Textbooks, GitHub/software link, etc..</a:t>
            </a: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22C802-FAC0-4996-9438-F4455D720586}"/>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11698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20-08-2026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8" name="Footer Placeholder 2">
            <a:extLst>
              <a:ext uri="{FF2B5EF4-FFF2-40B4-BE49-F238E27FC236}">
                <a16:creationId xmlns:a16="http://schemas.microsoft.com/office/drawing/2014/main" id="{410A2BD5-B048-435C-9BAE-2FCD927007A1}"/>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474</Words>
  <Application>Microsoft Office PowerPoint</Application>
  <PresentationFormat>Widescreen</PresentationFormat>
  <Paragraphs>128</Paragraphs>
  <Slides>12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ENGINEERING CAPSTONE PROJECT – 1/INDUSTRIAL INTERNSHIP/ INDUSTRIAL INTERNSHIP PHASE-I Project Review-1  Project Title</vt:lpstr>
      <vt:lpstr>OUTLINE</vt:lpstr>
      <vt:lpstr>Introduction</vt:lpstr>
      <vt:lpstr>Problem Statement</vt:lpstr>
      <vt:lpstr>Objectives </vt:lpstr>
      <vt:lpstr>Literature Survey</vt:lpstr>
      <vt:lpstr>Research Gap Identification</vt:lpstr>
      <vt:lpstr>Innovation, Creativity, and Novelty</vt:lpstr>
      <vt:lpstr>Feasibility and Project Plan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Welcome</cp:lastModifiedBy>
  <cp:revision>194</cp:revision>
  <cp:lastPrinted>2025-06-24T13:51:00Z</cp:lastPrinted>
  <dcterms:created xsi:type="dcterms:W3CDTF">2022-05-20T10:20:00Z</dcterms:created>
  <dcterms:modified xsi:type="dcterms:W3CDTF">2026-08-20T10:17:13Z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8501A877F9FA4B8DAC5FC0ABD71A7E4E_12</vt:lpwstr>
  </property>
  <property fmtid="{D5CDD505-2E9C-101B-9397-08002B2CF9AE}" pid="3" name="KSOProductBuildVer">
    <vt:lpwstr>1033-12.2.0.23196</vt:lpwstr>
  </property>
</Properties>
</file>