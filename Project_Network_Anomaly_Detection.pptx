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 id="2147483660" r:id="rId2"/>
  </p:sldMasterIdLst>
  <p:notesMasterIdLst>
    <p:notesMasterId r:id="rId15"/>
  </p:notesMasterIdLst>
  <p:handoutMasterIdLst>
    <p:handoutMasterId r:id="rId16"/>
  </p:handoutMasterIdLst>
  <p:sldIdLst>
    <p:sldId id="338" r:id="rId3"/>
    <p:sldId id="322" r:id="rId4"/>
    <p:sldId id="351" r:id="rId5"/>
    <p:sldId id="357" r:id="rId6"/>
    <p:sldId id="350" r:id="rId7"/>
    <p:sldId id="352" r:id="rId8"/>
    <p:sldId id="359" r:id="rId21"/>
    <p:sldId id="360" r:id="rId22"/>
    <p:sldId id="353" r:id="rId9"/>
    <p:sldId id="354" r:id="rId10"/>
    <p:sldId id="361" r:id="rId23"/>
    <p:sldId id="362" r:id="rId24"/>
    <p:sldId id="363" r:id="rId25"/>
    <p:sldId id="364" r:id="rId26"/>
    <p:sldId id="365" r:id="rId27"/>
    <p:sldId id="358" r:id="rId11"/>
    <p:sldId id="366" r:id="rId28"/>
    <p:sldId id="355" r:id="rId12"/>
    <p:sldId id="356" r:id="rId13"/>
    <p:sldId id="332" r:id="rId14"/>
  </p:sldIdLst>
  <p:sldSz cx="12192000" cy="6858000"/>
  <p:notesSz cx="7102475" cy="9037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58"/>
    <p:restoredTop sz="95833"/>
  </p:normalViewPr>
  <p:slideViewPr>
    <p:cSldViewPr snapToGrid="0" snapToObjects="1">
      <p:cViewPr varScale="1">
        <p:scale>
          <a:sx n="81" d="100"/>
          <a:sy n="81" d="100"/>
        </p:scale>
        <p:origin x="605" y="67"/>
      </p:cViewPr>
      <p:guideLst/>
    </p:cSldViewPr>
  </p:slideViewPr>
  <p:notesTextViewPr>
    <p:cViewPr>
      <p:scale>
        <a:sx n="1" d="1"/>
        <a:sy n="1" d="1"/>
      </p:scale>
      <p:origin x="0" y="0"/>
    </p:cViewPr>
  </p:notesTextViewPr>
  <p:notesViewPr>
    <p:cSldViewPr snapToGrid="0" snapToObjects="1">
      <p:cViewPr varScale="1">
        <p:scale>
          <a:sx n="51" d="100"/>
          <a:sy n="51" d="100"/>
        </p:scale>
        <p:origin x="3208"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6.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slide" Target="slides/slide20.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5345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023092" y="0"/>
            <a:ext cx="3077739" cy="453451"/>
          </a:xfrm>
          <a:prstGeom prst="rect">
            <a:avLst/>
          </a:prstGeom>
        </p:spPr>
        <p:txBody>
          <a:bodyPr vert="horz" lIns="91440" tIns="45720" rIns="91440" bIns="45720" rtlCol="0"/>
          <a:lstStyle>
            <a:lvl1pPr algn="r">
              <a:defRPr sz="1200"/>
            </a:lvl1pPr>
          </a:lstStyle>
          <a:p>
            <a:fld id="{469F6064-4237-BA4C-A655-B64A9E0DF723}" type="datetimeFigureOut">
              <a:rPr lang="en-US" smtClean="0"/>
              <a:t>8/20/2026</a:t>
            </a:fld>
            <a:endParaRPr lang="en-US"/>
          </a:p>
        </p:txBody>
      </p:sp>
      <p:sp>
        <p:nvSpPr>
          <p:cNvPr id="4" name="Footer Placeholder 3"/>
          <p:cNvSpPr>
            <a:spLocks noGrp="1"/>
          </p:cNvSpPr>
          <p:nvPr>
            <p:ph type="ftr" sz="quarter" idx="2"/>
          </p:nvPr>
        </p:nvSpPr>
        <p:spPr>
          <a:xfrm>
            <a:off x="0" y="8584188"/>
            <a:ext cx="3077739" cy="4534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023092" y="8584188"/>
            <a:ext cx="3077739" cy="453450"/>
          </a:xfrm>
          <a:prstGeom prst="rect">
            <a:avLst/>
          </a:prstGeom>
        </p:spPr>
        <p:txBody>
          <a:bodyPr vert="horz" lIns="91440" tIns="45720" rIns="91440" bIns="45720" rtlCol="0" anchor="b"/>
          <a:lstStyle>
            <a:lvl1pPr algn="r">
              <a:defRPr sz="1200"/>
            </a:lvl1pPr>
          </a:lstStyle>
          <a:p>
            <a:fld id="{7EFBAABA-A336-9B4F-BB34-8D7F4005576F}" type="slidenum">
              <a:rPr lang="en-US" smtClean="0"/>
              <a:t>‹#›</a:t>
            </a:fld>
            <a:endParaRPr lang="en-US"/>
          </a:p>
        </p:txBody>
      </p:sp>
      <p:pic>
        <p:nvPicPr>
          <p:cNvPr id="7" name="Picture 6"/>
          <p:cNvPicPr>
            <a:picLocks noChangeAspect="1"/>
          </p:cNvPicPr>
          <p:nvPr/>
        </p:nvPicPr>
        <p:blipFill>
          <a:blip r:embed="rId2"/>
          <a:stretch>
            <a:fillRect/>
          </a:stretch>
        </p:blipFill>
        <p:spPr>
          <a:xfrm>
            <a:off x="0" y="0"/>
            <a:ext cx="1156171" cy="453451"/>
          </a:xfrm>
          <a:prstGeom prst="rect">
            <a:avLst/>
          </a:prstGeom>
        </p:spPr>
      </p:pic>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5345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3092" y="0"/>
            <a:ext cx="3077739" cy="453451"/>
          </a:xfrm>
          <a:prstGeom prst="rect">
            <a:avLst/>
          </a:prstGeom>
        </p:spPr>
        <p:txBody>
          <a:bodyPr vert="horz" lIns="91440" tIns="45720" rIns="91440" bIns="45720" rtlCol="0"/>
          <a:lstStyle>
            <a:lvl1pPr algn="r">
              <a:defRPr sz="1200"/>
            </a:lvl1pPr>
          </a:lstStyle>
          <a:p>
            <a:fld id="{85A854B6-73EE-3647-B9F0-9FDDAF047BDA}" type="datetimeFigureOut">
              <a:rPr lang="en-US" smtClean="0"/>
              <a:t>8/20/2026</a:t>
            </a:fld>
            <a:endParaRPr lang="en-US"/>
          </a:p>
        </p:txBody>
      </p:sp>
      <p:sp>
        <p:nvSpPr>
          <p:cNvPr id="4" name="Slide Image Placeholder 3"/>
          <p:cNvSpPr>
            <a:spLocks noGrp="1" noRot="1" noChangeAspect="1"/>
          </p:cNvSpPr>
          <p:nvPr>
            <p:ph type="sldImg" idx="2"/>
          </p:nvPr>
        </p:nvSpPr>
        <p:spPr>
          <a:xfrm>
            <a:off x="839788" y="1130300"/>
            <a:ext cx="5422900" cy="30495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10248" y="4349363"/>
            <a:ext cx="5681980" cy="355857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584188"/>
            <a:ext cx="3077739" cy="45345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3092" y="8584188"/>
            <a:ext cx="3077739" cy="453450"/>
          </a:xfrm>
          <a:prstGeom prst="rect">
            <a:avLst/>
          </a:prstGeom>
        </p:spPr>
        <p:txBody>
          <a:bodyPr vert="horz" lIns="91440" tIns="45720" rIns="91440" bIns="45720" rtlCol="0" anchor="b"/>
          <a:lstStyle>
            <a:lvl1pPr algn="r">
              <a:defRPr sz="1200"/>
            </a:lvl1pPr>
          </a:lstStyle>
          <a:p>
            <a:fld id="{68329816-4D5E-3B44-810B-F5C416F14AE8}"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fld id="{C548D4DF-21A2-8343-9008-710997EFE372}" type="datetime1">
              <a:rPr lang="en-IN" smtClean="0"/>
              <a:t>20-08-2026</a:t>
            </a:fld>
            <a:endParaRPr lang="en-US"/>
          </a:p>
        </p:txBody>
      </p:sp>
      <p:sp>
        <p:nvSpPr>
          <p:cNvPr id="5" name="Footer Placeholder 4"/>
          <p:cNvSpPr>
            <a:spLocks noGrp="1"/>
          </p:cNvSpPr>
          <p:nvPr>
            <p:ph type="ftr" sz="quarter" idx="11"/>
          </p:nvPr>
        </p:nvSpPr>
        <p:spPr/>
        <p:txBody>
          <a:bodyPr/>
          <a:lstStyle/>
          <a:p>
            <a:r>
              <a:rPr lang="en-US"/>
              <a:t>REVIEW – 1 / 2 / 3    173030211    Department of CSE</a:t>
            </a:r>
          </a:p>
        </p:txBody>
      </p:sp>
      <p:sp>
        <p:nvSpPr>
          <p:cNvPr id="6" name="Slide Number Placeholder 5"/>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C7A4DE8B-8D6B-8C46-B882-6A2CD2BC96F0}" type="datetime1">
              <a:rPr lang="en-IN" smtClean="0"/>
              <a:t>20-08-2026</a:t>
            </a:fld>
            <a:endParaRPr lang="en-US"/>
          </a:p>
        </p:txBody>
      </p:sp>
      <p:sp>
        <p:nvSpPr>
          <p:cNvPr id="5" name="Footer Placeholder 4"/>
          <p:cNvSpPr>
            <a:spLocks noGrp="1"/>
          </p:cNvSpPr>
          <p:nvPr>
            <p:ph type="ftr" sz="quarter" idx="11"/>
          </p:nvPr>
        </p:nvSpPr>
        <p:spPr/>
        <p:txBody>
          <a:bodyPr/>
          <a:lstStyle/>
          <a:p>
            <a:r>
              <a:rPr lang="en-US" dirty="0"/>
              <a:t>REVIEW – 1    Department of CSE</a:t>
            </a:r>
          </a:p>
        </p:txBody>
      </p:sp>
      <p:sp>
        <p:nvSpPr>
          <p:cNvPr id="6" name="Slide Number Placeholder 5"/>
          <p:cNvSpPr>
            <a:spLocks noGrp="1"/>
          </p:cNvSpPr>
          <p:nvPr>
            <p:ph type="sldNum" sz="quarter" idx="12"/>
          </p:nvPr>
        </p:nvSpPr>
        <p:spPr/>
        <p:txBody>
          <a:bodyPr/>
          <a:lstStyle/>
          <a:p>
            <a:fld id="{B961B71F-4B40-8942-BB88-E0F5C0B46E10}" type="slidenum">
              <a:rPr lang="en-US" smtClean="0"/>
              <a:t>‹#›</a:t>
            </a:fld>
            <a:endParaRPr lang="en-US"/>
          </a:p>
        </p:txBody>
      </p:sp>
      <p:sp>
        <p:nvSpPr>
          <p:cNvPr id="8" name="Rectangle 7"/>
          <p:cNvSpPr/>
          <p:nvPr userDrawn="1"/>
        </p:nvSpPr>
        <p:spPr>
          <a:xfrm>
            <a:off x="87228" y="60325"/>
            <a:ext cx="1532022" cy="620712"/>
          </a:xfrm>
          <a:prstGeom prst="rect">
            <a:avLst/>
          </a:prstGeom>
          <a:blipFill dpi="0" rotWithShape="1">
            <a:blip r:embed="rId2">
              <a:alphaModFix amt="78101"/>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87173D6-3CEE-8F48-B559-8A1AAA479881}" type="datetime1">
              <a:rPr lang="en-IN" smtClean="0"/>
              <a:t>20-08-2026</a:t>
            </a:fld>
            <a:endParaRPr lang="en-US"/>
          </a:p>
        </p:txBody>
      </p:sp>
      <p:sp>
        <p:nvSpPr>
          <p:cNvPr id="5" name="Footer Placeholder 4"/>
          <p:cNvSpPr>
            <a:spLocks noGrp="1"/>
          </p:cNvSpPr>
          <p:nvPr>
            <p:ph type="ftr" sz="quarter" idx="11"/>
          </p:nvPr>
        </p:nvSpPr>
        <p:spPr/>
        <p:txBody>
          <a:bodyPr/>
          <a:lstStyle/>
          <a:p>
            <a:r>
              <a:rPr lang="en-US"/>
              <a:t>REVIEW – 1 / 2 / 3    173030211    Department of CSE</a:t>
            </a:r>
          </a:p>
        </p:txBody>
      </p:sp>
      <p:sp>
        <p:nvSpPr>
          <p:cNvPr id="6" name="Slide Number Placeholder 5"/>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2B0238AD-5BCA-FB4D-BB92-A9506EB125DE}" type="datetime1">
              <a:rPr lang="en-IN" smtClean="0"/>
              <a:t>20-08-2026</a:t>
            </a:fld>
            <a:endParaRPr lang="en-US"/>
          </a:p>
        </p:txBody>
      </p:sp>
      <p:sp>
        <p:nvSpPr>
          <p:cNvPr id="6" name="Footer Placeholder 5"/>
          <p:cNvSpPr>
            <a:spLocks noGrp="1"/>
          </p:cNvSpPr>
          <p:nvPr>
            <p:ph type="ftr" sz="quarter" idx="11"/>
          </p:nvPr>
        </p:nvSpPr>
        <p:spPr/>
        <p:txBody>
          <a:bodyPr/>
          <a:lstStyle/>
          <a:p>
            <a:r>
              <a:rPr lang="en-US"/>
              <a:t>REVIEW – 1 / 2 / 3    173030211    Department of CSE</a:t>
            </a:r>
          </a:p>
        </p:txBody>
      </p:sp>
      <p:sp>
        <p:nvSpPr>
          <p:cNvPr id="7" name="Slide Number Placeholder 6"/>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9D2E14E3-1A4B-E147-9C43-AF22F573C146}" type="datetime1">
              <a:rPr lang="en-IN" smtClean="0"/>
              <a:t>20-08-2026</a:t>
            </a:fld>
            <a:endParaRPr lang="en-US"/>
          </a:p>
        </p:txBody>
      </p:sp>
      <p:sp>
        <p:nvSpPr>
          <p:cNvPr id="8" name="Footer Placeholder 7"/>
          <p:cNvSpPr>
            <a:spLocks noGrp="1"/>
          </p:cNvSpPr>
          <p:nvPr>
            <p:ph type="ftr" sz="quarter" idx="11"/>
          </p:nvPr>
        </p:nvSpPr>
        <p:spPr/>
        <p:txBody>
          <a:bodyPr/>
          <a:lstStyle/>
          <a:p>
            <a:r>
              <a:rPr lang="en-US"/>
              <a:t>REVIEW – 1 / 2 / 3    173030211    Department of CSE</a:t>
            </a:r>
          </a:p>
        </p:txBody>
      </p:sp>
      <p:sp>
        <p:nvSpPr>
          <p:cNvPr id="9" name="Slide Number Placeholder 8"/>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7BE5FDD8-A8EC-434C-9DC5-9C830FFCBBBE}" type="datetime1">
              <a:rPr lang="en-IN" smtClean="0"/>
              <a:t>20-08-2026</a:t>
            </a:fld>
            <a:endParaRPr lang="en-US"/>
          </a:p>
        </p:txBody>
      </p:sp>
      <p:sp>
        <p:nvSpPr>
          <p:cNvPr id="4" name="Footer Placeholder 3"/>
          <p:cNvSpPr>
            <a:spLocks noGrp="1"/>
          </p:cNvSpPr>
          <p:nvPr>
            <p:ph type="ftr" sz="quarter" idx="11"/>
          </p:nvPr>
        </p:nvSpPr>
        <p:spPr/>
        <p:txBody>
          <a:bodyPr/>
          <a:lstStyle/>
          <a:p>
            <a:r>
              <a:rPr lang="en-US"/>
              <a:t>REVIEW – 1 / 2 / 3    173030211    Department of CSE</a:t>
            </a:r>
          </a:p>
        </p:txBody>
      </p:sp>
      <p:sp>
        <p:nvSpPr>
          <p:cNvPr id="5" name="Slide Number Placeholder 4"/>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B649A9-55B9-CC4B-9F14-A826BCB3F81D}" type="datetime1">
              <a:rPr lang="en-IN" smtClean="0"/>
              <a:t>20-08-2026</a:t>
            </a:fld>
            <a:endParaRPr lang="en-US"/>
          </a:p>
        </p:txBody>
      </p:sp>
      <p:sp>
        <p:nvSpPr>
          <p:cNvPr id="3" name="Footer Placeholder 2"/>
          <p:cNvSpPr>
            <a:spLocks noGrp="1"/>
          </p:cNvSpPr>
          <p:nvPr>
            <p:ph type="ftr" sz="quarter" idx="11"/>
          </p:nvPr>
        </p:nvSpPr>
        <p:spPr/>
        <p:txBody>
          <a:bodyPr/>
          <a:lstStyle/>
          <a:p>
            <a:r>
              <a:rPr lang="en-US"/>
              <a:t>REVIEW – 1 / 2 / 3    173030211    Department of CSE</a:t>
            </a:r>
          </a:p>
        </p:txBody>
      </p:sp>
      <p:sp>
        <p:nvSpPr>
          <p:cNvPr id="4" name="Slide Number Placeholder 3"/>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9DDB05C-DA09-D54E-BE90-A914E23C1D37}" type="datetime1">
              <a:rPr lang="en-IN" smtClean="0"/>
              <a:t>20-08-2026</a:t>
            </a:fld>
            <a:endParaRPr lang="en-US"/>
          </a:p>
        </p:txBody>
      </p:sp>
      <p:sp>
        <p:nvSpPr>
          <p:cNvPr id="6" name="Footer Placeholder 5"/>
          <p:cNvSpPr>
            <a:spLocks noGrp="1"/>
          </p:cNvSpPr>
          <p:nvPr>
            <p:ph type="ftr" sz="quarter" idx="11"/>
          </p:nvPr>
        </p:nvSpPr>
        <p:spPr/>
        <p:txBody>
          <a:bodyPr/>
          <a:lstStyle/>
          <a:p>
            <a:r>
              <a:rPr lang="en-US"/>
              <a:t>REVIEW – 1 / 2 / 3    173030211    Department of CSE</a:t>
            </a:r>
          </a:p>
        </p:txBody>
      </p:sp>
      <p:sp>
        <p:nvSpPr>
          <p:cNvPr id="7" name="Slide Number Placeholder 6"/>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CDE2264A-0DD4-554E-9BAF-72F2B974B4C3}" type="datetime1">
              <a:rPr lang="en-IN" smtClean="0"/>
              <a:t>20-08-2026</a:t>
            </a:fld>
            <a:endParaRPr lang="en-US"/>
          </a:p>
        </p:txBody>
      </p:sp>
      <p:sp>
        <p:nvSpPr>
          <p:cNvPr id="6" name="Footer Placeholder 5"/>
          <p:cNvSpPr>
            <a:spLocks noGrp="1"/>
          </p:cNvSpPr>
          <p:nvPr>
            <p:ph type="ftr" sz="quarter" idx="11"/>
          </p:nvPr>
        </p:nvSpPr>
        <p:spPr/>
        <p:txBody>
          <a:bodyPr/>
          <a:lstStyle/>
          <a:p>
            <a:r>
              <a:rPr lang="en-US"/>
              <a:t>REVIEW – 1 / 2 / 3    173030211    Department of CSE</a:t>
            </a:r>
          </a:p>
        </p:txBody>
      </p:sp>
      <p:sp>
        <p:nvSpPr>
          <p:cNvPr id="7" name="Slide Number Placeholder 6"/>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9EDEFDC3-8E95-594C-90F9-D4BFD51367E6}" type="datetime1">
              <a:rPr lang="en-IN" smtClean="0"/>
              <a:t>20-08-2026</a:t>
            </a:fld>
            <a:endParaRPr lang="en-US"/>
          </a:p>
        </p:txBody>
      </p:sp>
      <p:sp>
        <p:nvSpPr>
          <p:cNvPr id="5" name="Footer Placeholder 4"/>
          <p:cNvSpPr>
            <a:spLocks noGrp="1"/>
          </p:cNvSpPr>
          <p:nvPr>
            <p:ph type="ftr" sz="quarter" idx="11"/>
          </p:nvPr>
        </p:nvSpPr>
        <p:spPr/>
        <p:txBody>
          <a:bodyPr/>
          <a:lstStyle/>
          <a:p>
            <a:r>
              <a:rPr lang="en-US"/>
              <a:t>REVIEW – 1 / 2 / 3    173030211    Department of CSE</a:t>
            </a:r>
          </a:p>
        </p:txBody>
      </p:sp>
      <p:sp>
        <p:nvSpPr>
          <p:cNvPr id="6" name="Slide Number Placeholder 5"/>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E3B2C79A-A4F9-4646-8C8F-7091881D2F89}" type="datetime1">
              <a:rPr lang="en-IN" smtClean="0"/>
              <a:t>20-08-2026</a:t>
            </a:fld>
            <a:endParaRPr lang="en-US"/>
          </a:p>
        </p:txBody>
      </p:sp>
      <p:sp>
        <p:nvSpPr>
          <p:cNvPr id="5" name="Footer Placeholder 4"/>
          <p:cNvSpPr>
            <a:spLocks noGrp="1"/>
          </p:cNvSpPr>
          <p:nvPr>
            <p:ph type="ftr" sz="quarter" idx="11"/>
          </p:nvPr>
        </p:nvSpPr>
        <p:spPr/>
        <p:txBody>
          <a:bodyPr/>
          <a:lstStyle/>
          <a:p>
            <a:r>
              <a:rPr lang="en-US"/>
              <a:t>REVIEW – 1 / 2 / 3    173030211    Department of CSE</a:t>
            </a:r>
          </a:p>
        </p:txBody>
      </p:sp>
      <p:sp>
        <p:nvSpPr>
          <p:cNvPr id="6" name="Slide Number Placeholder 5"/>
          <p:cNvSpPr>
            <a:spLocks noGrp="1"/>
          </p:cNvSpPr>
          <p:nvPr>
            <p:ph type="sldNum" sz="quarter" idx="12"/>
          </p:nvPr>
        </p:nvSpPr>
        <p:spPr/>
        <p:txBody>
          <a:bodyPr/>
          <a:lstStyle/>
          <a:p>
            <a:fld id="{B961B71F-4B40-8942-BB88-E0F5C0B46E10}"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p:cNvSpPr>
            <a:spLocks noGrp="1"/>
          </p:cNvSpPr>
          <p:nvPr>
            <p:ph type="dt" sz="half" idx="10"/>
          </p:nvPr>
        </p:nvSpPr>
        <p:spPr/>
        <p:txBody>
          <a:bodyPr/>
          <a:lstStyle/>
          <a:p>
            <a:fld id="{113F1655-6176-8843-98F6-F743980649D1}" type="datetime1">
              <a:rPr lang="en-IN" smtClean="0"/>
              <a:t>20-08-2026</a:t>
            </a:fld>
            <a:endParaRPr lang="en-US"/>
          </a:p>
        </p:txBody>
      </p:sp>
      <p:sp>
        <p:nvSpPr>
          <p:cNvPr id="5" name="Footer Placeholder 4"/>
          <p:cNvSpPr>
            <a:spLocks noGrp="1"/>
          </p:cNvSpPr>
          <p:nvPr>
            <p:ph type="ftr" sz="quarter" idx="11"/>
          </p:nvPr>
        </p:nvSpPr>
        <p:spPr/>
        <p:txBody>
          <a:bodyPr/>
          <a:lstStyle/>
          <a:p>
            <a:r>
              <a:rPr lang="en-US"/>
              <a:t>REVIEW – 1 / 2 / 3    173030211    Department of CSE</a:t>
            </a:r>
          </a:p>
        </p:txBody>
      </p:sp>
      <p:sp>
        <p:nvSpPr>
          <p:cNvPr id="6" name="Slide Number Placeholder 5"/>
          <p:cNvSpPr>
            <a:spLocks noGrp="1"/>
          </p:cNvSpPr>
          <p:nvPr>
            <p:ph type="sldNum" sz="quarter" idx="12"/>
          </p:nvPr>
        </p:nvSpPr>
        <p:spPr/>
        <p:txBody>
          <a:bodyPr/>
          <a:lstStyle/>
          <a:p>
            <a:fld id="{D6396F81-1074-6B40-A92F-A06CCD3B4178}"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ACC23D11-2585-D24D-93CA-1B3685649544}" type="datetime1">
              <a:rPr lang="en-IN" smtClean="0"/>
              <a:t>20-08-2026</a:t>
            </a:fld>
            <a:endParaRPr lang="en-US"/>
          </a:p>
        </p:txBody>
      </p:sp>
      <p:sp>
        <p:nvSpPr>
          <p:cNvPr id="5" name="Footer Placeholder 4"/>
          <p:cNvSpPr>
            <a:spLocks noGrp="1"/>
          </p:cNvSpPr>
          <p:nvPr>
            <p:ph type="ftr" sz="quarter" idx="11"/>
          </p:nvPr>
        </p:nvSpPr>
        <p:spPr/>
        <p:txBody>
          <a:bodyPr/>
          <a:lstStyle/>
          <a:p>
            <a:r>
              <a:rPr lang="en-US"/>
              <a:t>REVIEW – 1 / 2 / 3    173030211    Department of CSE</a:t>
            </a:r>
          </a:p>
        </p:txBody>
      </p:sp>
      <p:sp>
        <p:nvSpPr>
          <p:cNvPr id="6" name="Slide Number Placeholder 5"/>
          <p:cNvSpPr>
            <a:spLocks noGrp="1"/>
          </p:cNvSpPr>
          <p:nvPr>
            <p:ph type="sldNum" sz="quarter" idx="12"/>
          </p:nvPr>
        </p:nvSpPr>
        <p:spPr/>
        <p:txBody>
          <a:bodyPr/>
          <a:lstStyle/>
          <a:p>
            <a:fld id="{D6396F81-1074-6B40-A92F-A06CCD3B4178}" type="slidenum">
              <a:rPr lang="en-US" smtClean="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34EACA4-A1C6-9F4F-978A-D3AE7141A61E}" type="datetime1">
              <a:rPr lang="en-IN" smtClean="0"/>
              <a:t>20-08-2026</a:t>
            </a:fld>
            <a:endParaRPr lang="en-US"/>
          </a:p>
        </p:txBody>
      </p:sp>
      <p:sp>
        <p:nvSpPr>
          <p:cNvPr id="5" name="Footer Placeholder 4"/>
          <p:cNvSpPr>
            <a:spLocks noGrp="1"/>
          </p:cNvSpPr>
          <p:nvPr>
            <p:ph type="ftr" sz="quarter" idx="11"/>
          </p:nvPr>
        </p:nvSpPr>
        <p:spPr/>
        <p:txBody>
          <a:bodyPr/>
          <a:lstStyle/>
          <a:p>
            <a:r>
              <a:rPr lang="en-US"/>
              <a:t>REVIEW – 1 / 2 / 3    173030211    Department of CSE</a:t>
            </a:r>
          </a:p>
        </p:txBody>
      </p:sp>
      <p:sp>
        <p:nvSpPr>
          <p:cNvPr id="6" name="Slide Number Placeholder 5"/>
          <p:cNvSpPr>
            <a:spLocks noGrp="1"/>
          </p:cNvSpPr>
          <p:nvPr>
            <p:ph type="sldNum" sz="quarter" idx="12"/>
          </p:nvPr>
        </p:nvSpPr>
        <p:spPr/>
        <p:txBody>
          <a:bodyPr/>
          <a:lstStyle/>
          <a:p>
            <a:fld id="{D6396F81-1074-6B40-A92F-A06CCD3B4178}"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DA2F10E6-0672-C24B-8BA7-69AD3847874C}" type="datetime1">
              <a:rPr lang="en-IN" smtClean="0"/>
              <a:t>20-08-2026</a:t>
            </a:fld>
            <a:endParaRPr lang="en-US"/>
          </a:p>
        </p:txBody>
      </p:sp>
      <p:sp>
        <p:nvSpPr>
          <p:cNvPr id="6" name="Footer Placeholder 5"/>
          <p:cNvSpPr>
            <a:spLocks noGrp="1"/>
          </p:cNvSpPr>
          <p:nvPr>
            <p:ph type="ftr" sz="quarter" idx="11"/>
          </p:nvPr>
        </p:nvSpPr>
        <p:spPr/>
        <p:txBody>
          <a:bodyPr/>
          <a:lstStyle/>
          <a:p>
            <a:r>
              <a:rPr lang="en-US"/>
              <a:t>REVIEW – 1 / 2 / 3    173030211    Department of CSE</a:t>
            </a:r>
          </a:p>
        </p:txBody>
      </p:sp>
      <p:sp>
        <p:nvSpPr>
          <p:cNvPr id="7" name="Slide Number Placeholder 6"/>
          <p:cNvSpPr>
            <a:spLocks noGrp="1"/>
          </p:cNvSpPr>
          <p:nvPr>
            <p:ph type="sldNum" sz="quarter" idx="12"/>
          </p:nvPr>
        </p:nvSpPr>
        <p:spPr/>
        <p:txBody>
          <a:bodyPr/>
          <a:lstStyle/>
          <a:p>
            <a:fld id="{D6396F81-1074-6B40-A92F-A06CCD3B4178}"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C3C70737-B6DD-A042-B94C-464B3C8698F2}" type="datetime1">
              <a:rPr lang="en-IN" smtClean="0"/>
              <a:t>20-08-2026</a:t>
            </a:fld>
            <a:endParaRPr lang="en-US"/>
          </a:p>
        </p:txBody>
      </p:sp>
      <p:sp>
        <p:nvSpPr>
          <p:cNvPr id="8" name="Footer Placeholder 7"/>
          <p:cNvSpPr>
            <a:spLocks noGrp="1"/>
          </p:cNvSpPr>
          <p:nvPr>
            <p:ph type="ftr" sz="quarter" idx="11"/>
          </p:nvPr>
        </p:nvSpPr>
        <p:spPr/>
        <p:txBody>
          <a:bodyPr/>
          <a:lstStyle/>
          <a:p>
            <a:r>
              <a:rPr lang="en-US"/>
              <a:t>REVIEW – 1 / 2 / 3    173030211    Department of CSE</a:t>
            </a:r>
          </a:p>
        </p:txBody>
      </p:sp>
      <p:sp>
        <p:nvSpPr>
          <p:cNvPr id="9" name="Slide Number Placeholder 8"/>
          <p:cNvSpPr>
            <a:spLocks noGrp="1"/>
          </p:cNvSpPr>
          <p:nvPr>
            <p:ph type="sldNum" sz="quarter" idx="12"/>
          </p:nvPr>
        </p:nvSpPr>
        <p:spPr/>
        <p:txBody>
          <a:bodyPr/>
          <a:lstStyle/>
          <a:p>
            <a:fld id="{D6396F81-1074-6B40-A92F-A06CCD3B417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B1E405-5A0A-8F4C-9EC6-8C8112FD4D9F}" type="datetime1">
              <a:rPr lang="en-IN" smtClean="0"/>
              <a:t>20-08-2026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REVIEW – 1  Department of CSE</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1B71F-4B40-8942-BB88-E0F5C0B46E10}"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7A86FA-D70B-B047-9EE8-E3556A998703}" type="datetime1">
              <a:rPr lang="en-IN" smtClean="0"/>
              <a:t>20-08-2026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REVIEW – 1 / 2 / 3    173030211    Department of CSE</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96F81-1074-6B40-A92F-A06CCD3B417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319609" y="595713"/>
            <a:ext cx="10515600" cy="1100826"/>
          </a:xfrm>
        </p:spPr>
        <p:txBody>
          <a:bodyPr>
            <a:noAutofit/>
          </a:bodyPr>
          <a:lstStyle/>
          <a:p>
            <a:pPr algn="ctr">
              <a:lnSpc>
                <a:spcPct val="100000"/>
              </a:lnSpc>
            </a:pPr>
            <a:r>
              <a:rPr lang="da-DK" sz="2400" b="1" dirty="0">
                <a:solidFill>
                  <a:srgbClr val="FF0000"/>
                </a:solidFill>
                <a:latin typeface="Times New Roman" panose="02020603050405020304" pitchFamily="18" charset="0"/>
                <a:cs typeface="Times New Roman" panose="02020603050405020304" pitchFamily="18" charset="0"/>
              </a:rPr>
              <a:t>ENGINEERING CAPSTONE PROJECT – 1/INDUSTRIAL INTERNSHIP/ INDUSTRIAL INTERNSHIP PHASE-I</a:t>
            </a:r>
            <a:br>
              <a:rPr lang="da-DK" sz="2400" b="1" dirty="0">
                <a:latin typeface="Times New Roman" panose="02020603050405020304" pitchFamily="18" charset="0"/>
                <a:cs typeface="Times New Roman" panose="02020603050405020304" pitchFamily="18" charset="0"/>
              </a:rPr>
            </a:br>
            <a:r>
              <a:rPr lang="da-DK" sz="2400" b="1" dirty="0">
                <a:solidFill>
                  <a:srgbClr val="0070C0"/>
                </a:solidFill>
                <a:latin typeface="Times New Roman" panose="02020603050405020304" pitchFamily="18" charset="0"/>
                <a:cs typeface="Times New Roman" panose="02020603050405020304" pitchFamily="18" charset="0"/>
              </a:rPr>
              <a:t>Project Review-1</a:t>
            </a:r>
            <a:br>
              <a:rPr lang="en-US" sz="2400" b="1" dirty="0">
                <a:latin typeface="Times New Roman" panose="02020603050405020304" pitchFamily="18" charset="0"/>
                <a:cs typeface="Times New Roman" panose="02020603050405020304" pitchFamily="18" charset="0"/>
              </a:rPr>
            </a:br>
            <a:br>
              <a:rPr lang="en-US" sz="2400" b="1" dirty="0">
                <a:latin typeface="Times New Roman" panose="02020603050405020304" pitchFamily="18" charset="0"/>
                <a:cs typeface="Times New Roman" panose="02020603050405020304" pitchFamily="18" charset="0"/>
              </a:rPr>
            </a:br>
            <a:r>
              <a:rPr lang="en-US" sz="2400" b="1" dirty="0">
                <a:solidFill>
                  <a:schemeClr val="accent6"/>
                </a:solidFill>
                <a:latin typeface="Times New Roman" panose="02020603050405020304" pitchFamily="18" charset="0"/>
                <a:cs typeface="Times New Roman" panose="02020603050405020304" pitchFamily="18" charset="0"/>
              </a:rPr>
              <a:t xml:space="preserve">Network Logs Anomaly Detection</a:t>
            </a:r>
            <a:endParaRPr lang="en-US" altLang="en-US" sz="2400" b="1" dirty="0">
              <a:solidFill>
                <a:schemeClr val="accent6"/>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sz="half" idx="1"/>
          </p:nvPr>
        </p:nvSpPr>
        <p:spPr>
          <a:xfrm>
            <a:off x="1112247" y="2265079"/>
            <a:ext cx="10515600" cy="1097555"/>
          </a:xfrm>
        </p:spPr>
        <p:txBody>
          <a:bodyPr>
            <a:noAutofit/>
          </a:bodyPr>
          <a:lstStyle/>
          <a:p>
            <a:pPr marL="0" indent="0" algn="ctr">
              <a:buNone/>
            </a:pPr>
            <a:r>
              <a:rPr lang="en-IN" sz="2000" b="1" dirty="0"/>
              <a:t>Team No-</a:t>
            </a:r>
          </a:p>
          <a:p>
            <a:pPr marL="0" indent="0" algn="ctr">
              <a:buNone/>
            </a:pPr>
            <a:r>
              <a:rPr lang="en-IN" sz="2000" b="1" dirty="0"/>
              <a:t xml:space="preserve">2320030085		Virinchi Deevi</a:t>
            </a:r>
            <a:endParaRPr lang="en-US" sz="2000" b="1" dirty="0"/>
          </a:p>
          <a:p>
            <a:pPr marL="0" indent="0" algn="ctr">
              <a:buNone/>
            </a:pPr>
            <a:endParaRPr lang="en-US" sz="2000" b="1" dirty="0"/>
          </a:p>
          <a:p>
            <a:pPr marL="0" indent="0" algn="ctr">
              <a:buNone/>
            </a:pPr>
            <a:endParaRPr lang="en-US" sz="1400" b="1" dirty="0"/>
          </a:p>
        </p:txBody>
      </p:sp>
      <p:sp>
        <p:nvSpPr>
          <p:cNvPr id="6" name="Date Placeholder 5"/>
          <p:cNvSpPr>
            <a:spLocks noGrp="1"/>
          </p:cNvSpPr>
          <p:nvPr>
            <p:ph type="dt" sz="half" idx="10"/>
          </p:nvPr>
        </p:nvSpPr>
        <p:spPr/>
        <p:txBody>
          <a:bodyPr/>
          <a:lstStyle/>
          <a:p>
            <a:fld id="{437923A7-D8E7-1742-AE5C-E3C19725FB52}" type="datetime1">
              <a:rPr lang="en-IN" smtClean="0"/>
              <a:t>20-08-2026</a:t>
            </a:fld>
            <a:endParaRPr lang="en-US"/>
          </a:p>
        </p:txBody>
      </p:sp>
      <p:sp>
        <p:nvSpPr>
          <p:cNvPr id="9" name="Content Placeholder 3"/>
          <p:cNvSpPr txBox="1"/>
          <p:nvPr/>
        </p:nvSpPr>
        <p:spPr>
          <a:xfrm>
            <a:off x="961417" y="5032000"/>
            <a:ext cx="10506683" cy="138075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r>
              <a:rPr lang="en-US" sz="1800" b="1" dirty="0">
                <a:solidFill>
                  <a:srgbClr val="C00000"/>
                </a:solidFill>
              </a:rPr>
              <a:t>KONERU LAKSHMAIAH EDUCATION FOUNDATION</a:t>
            </a:r>
          </a:p>
          <a:p>
            <a:pPr marL="0" indent="0">
              <a:buFont typeface="Arial" panose="020B0604020202020204" pitchFamily="34" charset="0"/>
              <a:buNone/>
            </a:pPr>
            <a:endParaRPr lang="en-US" sz="1800" b="1" dirty="0">
              <a:solidFill>
                <a:srgbClr val="0070C0"/>
              </a:solidFill>
            </a:endParaRPr>
          </a:p>
        </p:txBody>
      </p:sp>
      <p:sp>
        <p:nvSpPr>
          <p:cNvPr id="10" name="Content Placeholder 3"/>
          <p:cNvSpPr txBox="1"/>
          <p:nvPr/>
        </p:nvSpPr>
        <p:spPr>
          <a:xfrm>
            <a:off x="961417" y="3362634"/>
            <a:ext cx="10515600" cy="1806292"/>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n-US" sz="2400" dirty="0">
              <a:solidFill>
                <a:srgbClr val="00B050"/>
              </a:solidFill>
            </a:endParaRPr>
          </a:p>
          <a:p>
            <a:pPr marL="0" indent="0" algn="ctr">
              <a:buNone/>
            </a:pPr>
            <a:r>
              <a:rPr lang="en-US" sz="2400" dirty="0">
                <a:solidFill>
                  <a:srgbClr val="00B050"/>
                </a:solidFill>
              </a:rPr>
              <a:t>Under the Guidance of</a:t>
            </a:r>
          </a:p>
          <a:p>
            <a:pPr marL="0" indent="0" algn="ctr">
              <a:buNone/>
            </a:pPr>
            <a:r>
              <a:rPr lang="en-US" sz="2400" dirty="0">
                <a:solidFill>
                  <a:srgbClr val="00B050"/>
                </a:solidFill>
              </a:rPr>
              <a:t>Guide Name</a:t>
            </a:r>
          </a:p>
          <a:p>
            <a:pPr marL="0" indent="0" algn="ctr">
              <a:buNone/>
            </a:pPr>
            <a:r>
              <a:rPr lang="en-US" sz="2400" dirty="0">
                <a:solidFill>
                  <a:srgbClr val="00B050"/>
                </a:solidFill>
              </a:rPr>
              <a:t>Designation</a:t>
            </a:r>
          </a:p>
          <a:p>
            <a:pPr marL="0" indent="0" algn="ctr">
              <a:buNone/>
            </a:pPr>
            <a:r>
              <a:rPr lang="en-US" sz="2400" dirty="0">
                <a:solidFill>
                  <a:srgbClr val="00B050"/>
                </a:solidFill>
              </a:rPr>
              <a:t>Department of Computer Science and Engineering</a:t>
            </a:r>
          </a:p>
          <a:p>
            <a:pPr marL="0" indent="0">
              <a:buFont typeface="Arial" panose="020B0604020202020204" pitchFamily="34" charset="0"/>
              <a:buNone/>
            </a:pPr>
            <a:endParaRPr lang="en-US" sz="2400" dirty="0">
              <a:solidFill>
                <a:srgbClr val="00B050"/>
              </a:solidFill>
            </a:endParaRPr>
          </a:p>
        </p:txBody>
      </p:sp>
      <p:sp>
        <p:nvSpPr>
          <p:cNvPr id="5" name="Slide Number Placeholder 4"/>
          <p:cNvSpPr>
            <a:spLocks noGrp="1"/>
          </p:cNvSpPr>
          <p:nvPr>
            <p:ph type="sldNum" sz="quarter" idx="12"/>
          </p:nvPr>
        </p:nvSpPr>
        <p:spPr/>
        <p:txBody>
          <a:bodyPr/>
          <a:lstStyle/>
          <a:p>
            <a:fld id="{B961B71F-4B40-8942-BB88-E0F5C0B46E10}" type="slidenum">
              <a:rPr lang="en-US" smtClean="0"/>
              <a:t>1</a:t>
            </a:fld>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2395" y="5136862"/>
            <a:ext cx="2175809" cy="897941"/>
          </a:xfrm>
          <a:prstGeom prst="rect">
            <a:avLst/>
          </a:prstGeom>
        </p:spPr>
      </p:pic>
      <p:pic>
        <p:nvPicPr>
          <p:cNvPr id="8" name="Picture 7"/>
          <p:cNvPicPr>
            <a:picLocks noChangeAspect="1"/>
          </p:cNvPicPr>
          <p:nvPr/>
        </p:nvPicPr>
        <p:blipFill>
          <a:blip r:embed="rId3"/>
          <a:stretch>
            <a:fillRect/>
          </a:stretch>
        </p:blipFill>
        <p:spPr>
          <a:xfrm>
            <a:off x="1" y="-396"/>
            <a:ext cx="1458484" cy="69086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7"/>
          <p:cNvSpPr>
            <a:spLocks noGrp="1"/>
          </p:cNvSpPr>
          <p:nvPr>
            <p:ph type="title"/>
          </p:nvPr>
        </p:nvSpPr>
        <p:spPr>
          <a:xfrm>
            <a:off x="1180618" y="365125"/>
            <a:ext cx="10173182" cy="1128009"/>
          </a:xfrm>
        </p:spPr>
        <p:txBody>
          <a:bodyPr/>
          <a:lstStyle/>
          <a:p>
            <a:pPr algn="ctr"/>
            <a:r>
              <a:rPr lang="en-US" b="1" dirty="0">
                <a:latin typeface="Times New Roman" panose="02020603050405020304" pitchFamily="18" charset="0"/>
                <a:cs typeface="Times New Roman" panose="02020603050405020304" pitchFamily="18" charset="0"/>
              </a:rPr>
              <a:t>OUTLINE</a:t>
            </a:r>
          </a:p>
        </p:txBody>
      </p:sp>
      <p:sp>
        <p:nvSpPr>
          <p:cNvPr id="9" name="Content Placeholder 8"/>
          <p:cNvSpPr>
            <a:spLocks noGrp="1"/>
          </p:cNvSpPr>
          <p:nvPr>
            <p:ph idx="1"/>
          </p:nvPr>
        </p:nvSpPr>
        <p:spPr>
          <a:xfrm>
            <a:off x="838200" y="1250731"/>
            <a:ext cx="10515600" cy="5002923"/>
          </a:xfrm>
        </p:spPr>
        <p:txBody>
          <a:bodyPr numCol="2" spcCol="457200">
            <a:normAutofit/>
          </a:bodyPr>
          <a:lstStyle/>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Introduction</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Problem Statement</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Objectives</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Literature Survey</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Research Gap Identification</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Innovation, Creativity, and Novelty</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Methodology</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System Design and Architecture</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Use of Modern Tools and Technologies</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Implementation, Coding Quality, and Functionality</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Experimental Setup and Preliminary Results</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Feasibility and Project Plan</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Research Paper Draft Preparation</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Conclusion</a:t>
            </a:r>
          </a:p>
          <a:p>
            <a:pPr marL="514350" indent="-514350">
              <a:buFont typeface="+mj-lt"/>
              <a:buAutoNum type="arabicPeriod"/>
            </a:pPr>
            <a:r>
              <a:rPr lang="en-IN" dirty="0" sz="2000">
                <a:latin typeface="Times New Roman" panose="02020603050405020304" pitchFamily="18" charset="0"/>
                <a:cs typeface="Times New Roman" panose="02020603050405020304" pitchFamily="18" charset="0"/>
              </a:rPr>
              <a:t xml:space="preserve">References</a:t>
            </a:r>
          </a:p>
        </p:txBody>
      </p:sp>
      <p:sp>
        <p:nvSpPr>
          <p:cNvPr id="5" name="Date Placeholder 4"/>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p:cNvSpPr>
            <a:spLocks noGrp="1"/>
          </p:cNvSpPr>
          <p:nvPr>
            <p:ph type="sldNum" sz="quarter" idx="12"/>
          </p:nvPr>
        </p:nvSpPr>
        <p:spPr/>
        <p:txBody>
          <a:bodyPr/>
          <a:lstStyle/>
          <a:p>
            <a:fld id="{B961B71F-4B40-8942-BB88-E0F5C0B46E10}" type="slidenum">
              <a:rPr lang="en-US" smtClean="0"/>
              <a:t>2</a:t>
            </a:fld>
            <a:endParaRPr lang="en-US"/>
          </a:p>
        </p:txBody>
      </p:sp>
      <p:pic>
        <p:nvPicPr>
          <p:cNvPr id="2" name="Picture 1"/>
          <p:cNvPicPr>
            <a:picLocks noChangeAspect="1"/>
          </p:cNvPicPr>
          <p:nvPr/>
        </p:nvPicPr>
        <p:blipFill>
          <a:blip r:embed="rId2"/>
          <a:stretch>
            <a:fillRect/>
          </a:stretch>
        </p:blipFill>
        <p:spPr>
          <a:xfrm>
            <a:off x="1" y="-396"/>
            <a:ext cx="1458484" cy="690861"/>
          </a:xfrm>
          <a:prstGeom prst="rect">
            <a:avLst/>
          </a:prstGeom>
        </p:spPr>
      </p:pic>
      <p:sp>
        <p:nvSpPr>
          <p:cNvPr id="3" name="Footer Placeholder 2"/>
          <p:cNvSpPr>
            <a:spLocks noGrp="1"/>
          </p:cNvSpPr>
          <p:nvPr>
            <p:ph type="ftr" sz="quarter" idx="11"/>
          </p:nvPr>
        </p:nvSpPr>
        <p:spPr/>
        <p:txBody>
          <a:bodyPr/>
          <a:lstStyle/>
          <a:p>
            <a:r>
              <a:rPr lang="en-US" dirty="0"/>
              <a:t>PRC-I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522124-E786-BCBD-47AD-A1A7AA1DA56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12C2661-5AB9-3306-326F-7FD2F83DB2B0}"/>
              </a:ext>
            </a:extLst>
          </p:cNvPr>
          <p:cNvSpPr>
            <a:spLocks noGrp="1"/>
          </p:cNvSpPr>
          <p:nvPr>
            <p:ph type="title"/>
          </p:nvPr>
        </p:nvSpPr>
        <p:spPr>
          <a:xfrm>
            <a:off x="1180618" y="365125"/>
            <a:ext cx="10173182" cy="1128009"/>
          </a:xfrm>
        </p:spPr>
        <p:txBody>
          <a:bodyPr>
            <a:normAutofit/>
          </a:bodyPr>
          <a:lstStyle/>
          <a:p>
            <a:pPr algn="ctr"/>
            <a:r>
              <a:rPr lang="en-IN" b="1" dirty="0">
                <a:latin typeface="Times New Roman" panose="02020603050405020304" pitchFamily="18" charset="0"/>
                <a:cs typeface="Times New Roman" panose="02020603050405020304" pitchFamily="18" charset="0"/>
              </a:rPr>
              <a:t>Introduction</a:t>
            </a:r>
          </a:p>
        </p:txBody>
      </p:sp>
      <p:sp>
        <p:nvSpPr>
          <p:cNvPr id="9" name="Content Placeholder 8">
            <a:extLst>
              <a:ext uri="{FF2B5EF4-FFF2-40B4-BE49-F238E27FC236}">
                <a16:creationId xmlns:a16="http://schemas.microsoft.com/office/drawing/2014/main" id="{B7B926EC-3DBE-8D00-A4DE-40000C0B9746}"/>
              </a:ext>
            </a:extLst>
          </p:cNvPr>
          <p:cNvSpPr>
            <a:spLocks noGrp="1"/>
          </p:cNvSpPr>
          <p:nvPr>
            <p:ph idx="1"/>
          </p:nvPr>
        </p:nvSpPr>
        <p:spPr>
          <a:xfrm>
            <a:off x="838200" y="1260158"/>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Background</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Every connection a network makes is recorded as a log line: source and destination address, port, protocol, bytes transferred and duration.</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Importance</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An intrusion is present in those logs, but only as a pattern across many records. A single connection to port 22 is routine; forty of them in four minutes is an attack. The volume makes manual review impossible.</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Problem being solved</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Detecting port scanning, denial of service, brute force and data exfiltration in network connection logs, with every alert traceable to the rule and threshold that raised it.</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Application</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Security monitoring for small and medium internal networks, and an explainable baseline against which learning-based detectors can be compared.</a:t>
            </a:r>
          </a:p>
        </p:txBody>
      </p:sp>
      <p:sp>
        <p:nvSpPr>
          <p:cNvPr id="5" name="Date Placeholder 4">
            <a:extLst>
              <a:ext uri="{FF2B5EF4-FFF2-40B4-BE49-F238E27FC236}">
                <a16:creationId xmlns:a16="http://schemas.microsoft.com/office/drawing/2014/main" id="{7B8C7DBE-8B58-804A-6C39-91193A7ECF4F}"/>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7B53D3A6-F1ED-0DAD-DE43-F3A755A78A23}"/>
              </a:ext>
            </a:extLst>
          </p:cNvPr>
          <p:cNvSpPr>
            <a:spLocks noGrp="1"/>
          </p:cNvSpPr>
          <p:nvPr>
            <p:ph type="sldNum" sz="quarter" idx="12"/>
          </p:nvPr>
        </p:nvSpPr>
        <p:spPr/>
        <p:txBody>
          <a:bodyPr/>
          <a:lstStyle/>
          <a:p>
            <a:fld id="{B961B71F-4B40-8942-BB88-E0F5C0B46E10}" type="slidenum">
              <a:rPr lang="en-US" smtClean="0"/>
              <a:t>3</a:t>
            </a:fld>
            <a:endParaRPr lang="en-US"/>
          </a:p>
        </p:txBody>
      </p:sp>
      <p:pic>
        <p:nvPicPr>
          <p:cNvPr id="2" name="Picture 1">
            <a:extLst>
              <a:ext uri="{FF2B5EF4-FFF2-40B4-BE49-F238E27FC236}">
                <a16:creationId xmlns:a16="http://schemas.microsoft.com/office/drawing/2014/main" id="{ABEFA699-0799-F3B0-1E5B-DEAFB30C59B0}"/>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3C34A4E9-B1D7-4F59-982A-7518E00546D4}"/>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0115990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24174-E81B-4768-8B99-C41881EF5EA4}"/>
              </a:ext>
            </a:extLst>
          </p:cNvPr>
          <p:cNvSpPr>
            <a:spLocks noGrp="1"/>
          </p:cNvSpPr>
          <p:nvPr>
            <p:ph type="title"/>
          </p:nvPr>
        </p:nvSpPr>
        <p:spPr/>
        <p:txBody>
          <a:bodyPr/>
          <a:lstStyle/>
          <a:p>
            <a:pPr algn="ctr"/>
            <a:r>
              <a:rPr lang="en-US" dirty="0">
                <a:latin typeface="Times New Roman" panose="02020603050405020304" pitchFamily="18" charset="0"/>
                <a:cs typeface="Times New Roman" panose="02020603050405020304" pitchFamily="18" charset="0"/>
              </a:rPr>
              <a:t>Problem Statement</a:t>
            </a:r>
            <a:endParaRPr lang="en-IN" dirty="0"/>
          </a:p>
        </p:txBody>
      </p:sp>
      <p:sp>
        <p:nvSpPr>
          <p:cNvPr id="3" name="Content Placeholder 2">
            <a:extLst>
              <a:ext uri="{FF2B5EF4-FFF2-40B4-BE49-F238E27FC236}">
                <a16:creationId xmlns:a16="http://schemas.microsoft.com/office/drawing/2014/main" id="{54E84203-8F93-4071-A37C-6A9C3BB16CA1}"/>
              </a:ext>
            </a:extLst>
          </p:cNvPr>
          <p:cNvSpPr>
            <a:spLocks noGrp="1"/>
          </p:cNvSpPr>
          <p:nvPr>
            <p:ph idx="1"/>
          </p:nvPr>
        </p:nvSpPr>
        <p:spPr/>
        <p:txBody>
          <a:bodyPr/>
          <a:lstStyle/>
          <a:p>
            <a:pPr marL="0" indent="0" algn="just">
              <a:buNone/>
            </a:pPr>
            <a:r>
              <a:rPr lang="en-IN" dirty="0"/>
              <a:t xml:space="preserve">Network connection logs accumulate faster than any analyst can read them, and an intrusion is not visible in a single record. It is a property of a group of connections inside a time window.</a:t>
            </a:r>
          </a:p>
          <a:p>
            <a:pPr marL="0" indent="0" algn="just">
              <a:buNone/>
            </a:pPr>
            <a:r>
              <a:rPr lang="en-IN" dirty="0"/>
              <a:t xml:space="preserve">Detectors that measure those windows against the system clock return different results depending on the hour of execution and the timezone of the host, which makes them impossible to evaluate, tune or trust.</a:t>
            </a:r>
          </a:p>
          <a:p>
            <a:pPr marL="0" indent="0" algn="just">
              <a:buNone/>
            </a:pPr>
            <a:r>
              <a:rPr lang="en-IN" dirty="0"/>
              <a:t xml:space="preserve">This project detects attack patterns in network connection logs such that the result depends only on the data, and every detection can be explained to the person acting on it.</a:t>
            </a:r>
          </a:p>
        </p:txBody>
      </p:sp>
      <p:sp>
        <p:nvSpPr>
          <p:cNvPr id="4" name="Date Placeholder 3">
            <a:extLst>
              <a:ext uri="{FF2B5EF4-FFF2-40B4-BE49-F238E27FC236}">
                <a16:creationId xmlns:a16="http://schemas.microsoft.com/office/drawing/2014/main" id="{0D185FB1-B28D-4C1B-A7FA-1B6AE4E26B08}"/>
              </a:ext>
            </a:extLst>
          </p:cNvPr>
          <p:cNvSpPr>
            <a:spLocks noGrp="1"/>
          </p:cNvSpPr>
          <p:nvPr>
            <p:ph type="dt" sz="half" idx="10"/>
          </p:nvPr>
        </p:nvSpPr>
        <p:spPr>
          <a:xfrm>
            <a:off x="838200" y="6365777"/>
            <a:ext cx="2743200" cy="365125"/>
          </a:xfrm>
        </p:spPr>
        <p:txBody>
          <a:bodyPr/>
          <a:lstStyle/>
          <a:p>
            <a:fld id="{C7A4DE8B-8D6B-8C46-B882-6A2CD2BC96F0}" type="datetime1">
              <a:rPr lang="en-IN" smtClean="0"/>
              <a:t>20-08-2026</a:t>
            </a:fld>
            <a:endParaRPr lang="en-US"/>
          </a:p>
        </p:txBody>
      </p:sp>
      <p:sp>
        <p:nvSpPr>
          <p:cNvPr id="6" name="Slide Number Placeholder 5">
            <a:extLst>
              <a:ext uri="{FF2B5EF4-FFF2-40B4-BE49-F238E27FC236}">
                <a16:creationId xmlns:a16="http://schemas.microsoft.com/office/drawing/2014/main" id="{52C09634-64A3-451F-B3E1-F9F54FC12B45}"/>
              </a:ext>
            </a:extLst>
          </p:cNvPr>
          <p:cNvSpPr>
            <a:spLocks noGrp="1"/>
          </p:cNvSpPr>
          <p:nvPr>
            <p:ph type="sldNum" sz="quarter" idx="12"/>
          </p:nvPr>
        </p:nvSpPr>
        <p:spPr/>
        <p:txBody>
          <a:bodyPr/>
          <a:lstStyle/>
          <a:p>
            <a:fld id="{B961B71F-4B40-8942-BB88-E0F5C0B46E10}" type="slidenum">
              <a:rPr lang="en-US" smtClean="0"/>
              <a:t>4</a:t>
            </a:fld>
            <a:endParaRPr lang="en-US"/>
          </a:p>
        </p:txBody>
      </p:sp>
      <p:sp>
        <p:nvSpPr>
          <p:cNvPr id="7" name="Footer Placeholder 2">
            <a:extLst>
              <a:ext uri="{FF2B5EF4-FFF2-40B4-BE49-F238E27FC236}">
                <a16:creationId xmlns:a16="http://schemas.microsoft.com/office/drawing/2014/main" id="{D9CC9555-106F-46B4-BA3D-25EA6B87723C}"/>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1103198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DF4ED40-408F-6A27-E4F0-6FCB8E7B6BE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C946B85-3126-D2FB-6BBE-D431774EDF2B}"/>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Objectives</a:t>
            </a:r>
            <a:r>
              <a:rPr lang="en-IN" dirty="0"/>
              <a:t> </a:t>
            </a:r>
          </a:p>
        </p:txBody>
      </p:sp>
      <p:sp>
        <p:nvSpPr>
          <p:cNvPr id="9" name="Content Placeholder 8">
            <a:extLst>
              <a:ext uri="{FF2B5EF4-FFF2-40B4-BE49-F238E27FC236}">
                <a16:creationId xmlns:a16="http://schemas.microsoft.com/office/drawing/2014/main" id="{207DCC41-9625-D8BE-ED8E-A41DE68AA126}"/>
              </a:ext>
            </a:extLst>
          </p:cNvPr>
          <p:cNvSpPr>
            <a:spLocks noGrp="1"/>
          </p:cNvSpPr>
          <p:nvPr>
            <p:ph idx="1"/>
          </p:nvPr>
        </p:nvSpPr>
        <p:spPr>
          <a:xfrm>
            <a:off x="838200" y="1250731"/>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Build an ETL pipeline that ingests network connection logs, normalises them and stores them in an indexed relational database.</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Implement six rule-based detectors covering port scanning, denial of service, brute force, data exfiltration, dangerous ports and hostile address ranges.</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Anchor every detection window on log time rather than system time, so that output is identical across runs, hosts and timezones.</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Attribute every detection to a rule, a severity level and a description an analyst can act on.</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Present the results in an interactive dashboard that reads the same store the detector writes, so display cannot disagree with detection.</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Verify determinism, idempotency and reproducibility by measurement rather than assumption.</a:t>
            </a:r>
          </a:p>
        </p:txBody>
      </p:sp>
      <p:sp>
        <p:nvSpPr>
          <p:cNvPr id="5" name="Date Placeholder 4">
            <a:extLst>
              <a:ext uri="{FF2B5EF4-FFF2-40B4-BE49-F238E27FC236}">
                <a16:creationId xmlns:a16="http://schemas.microsoft.com/office/drawing/2014/main" id="{47AB615F-134B-83C4-E306-B5062B74B49D}"/>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56B58078-A2DB-3337-E1DB-4073478F184D}"/>
              </a:ext>
            </a:extLst>
          </p:cNvPr>
          <p:cNvSpPr>
            <a:spLocks noGrp="1"/>
          </p:cNvSpPr>
          <p:nvPr>
            <p:ph type="sldNum" sz="quarter" idx="12"/>
          </p:nvPr>
        </p:nvSpPr>
        <p:spPr/>
        <p:txBody>
          <a:bodyPr/>
          <a:lstStyle/>
          <a:p>
            <a:fld id="{B961B71F-4B40-8942-BB88-E0F5C0B46E10}" type="slidenum">
              <a:rPr lang="en-US" smtClean="0"/>
              <a:t>5</a:t>
            </a:fld>
            <a:endParaRPr lang="en-US"/>
          </a:p>
        </p:txBody>
      </p:sp>
      <p:pic>
        <p:nvPicPr>
          <p:cNvPr id="2" name="Picture 1">
            <a:extLst>
              <a:ext uri="{FF2B5EF4-FFF2-40B4-BE49-F238E27FC236}">
                <a16:creationId xmlns:a16="http://schemas.microsoft.com/office/drawing/2014/main" id="{3635B6A2-90DB-9DF8-4F42-DFC3BA3D4CDC}"/>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53D0FDF3-DB89-46A2-B389-76810F8CAAF1}"/>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40084045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2205BF8-E8B4-C589-5006-CAF232FB4E7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15234DD-6ED1-D656-1294-FA28B66E4582}"/>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 xml:space="preserve">Literature Survey (1 of 3)</a:t>
            </a:r>
          </a:p>
        </p:txBody>
      </p:sp>
      <p:sp>
        <p:nvSpPr>
          <p:cNvPr id="9" name="Content Placeholder 8">
            <a:extLst>
              <a:ext uri="{FF2B5EF4-FFF2-40B4-BE49-F238E27FC236}">
                <a16:creationId xmlns:a16="http://schemas.microsoft.com/office/drawing/2014/main" id="{C5679BD2-A51A-9AA0-A461-44D352276E52}"/>
              </a:ext>
            </a:extLst>
          </p:cNvPr>
          <p:cNvSpPr>
            <a:spLocks noGrp="1"/>
          </p:cNvSpPr>
          <p:nvPr>
            <p:ph idx="1"/>
          </p:nvPr>
        </p:nvSpPr>
        <p:spPr>
          <a:xfrm>
            <a:off x="838200" y="1250731"/>
            <a:ext cx="10515600" cy="5002923"/>
          </a:xfrm>
        </p:spPr>
        <p:txBody>
          <a:bodyPr>
            <a:normAutofit/>
          </a:bodyPr>
          <a:lstStyle/>
          <a:p>
            <a:pPr marL="0" indent="0" eaLnBrk="0" fontAlgn="base" hangingPunct="0">
              <a:lnSpc>
                <a:spcPct val="100000"/>
              </a:lnSpc>
              <a:spcBef>
                <a:spcPct val="0"/>
              </a:spcBef>
              <a:spcAft>
                <a:spcPct val="0"/>
              </a:spcAft>
              <a:buNone/>
            </a:pPr>
            <a:r>
              <a:rPr lang="en-US" altLang="en-US" sz="1400" dirty="0">
                <a:latin typeface="Times New Roman" panose="02020603050405020304" pitchFamily="18" charset="0"/>
                <a:cs typeface="Times New Roman" panose="02020603050405020304" pitchFamily="18" charset="0"/>
              </a:rPr>
              <a:t xml:space="preserve">Seventeen papers published from 2022 onwards on rule-based and learning-based intrusion detection, benchmark datasets, and the reproducibility problems reported for network anomaly detection.</a:t>
            </a:r>
          </a:p>
        </p:txBody>
      </p:sp>
      <p:sp>
        <p:nvSpPr>
          <p:cNvPr id="5" name="Date Placeholder 4">
            <a:extLst>
              <a:ext uri="{FF2B5EF4-FFF2-40B4-BE49-F238E27FC236}">
                <a16:creationId xmlns:a16="http://schemas.microsoft.com/office/drawing/2014/main" id="{B10130AF-494E-777F-45AE-C50709DBF558}"/>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1E301E54-71CD-371A-5333-489712DC684B}"/>
              </a:ext>
            </a:extLst>
          </p:cNvPr>
          <p:cNvSpPr>
            <a:spLocks noGrp="1"/>
          </p:cNvSpPr>
          <p:nvPr>
            <p:ph type="sldNum" sz="quarter" idx="12"/>
          </p:nvPr>
        </p:nvSpPr>
        <p:spPr/>
        <p:txBody>
          <a:bodyPr/>
          <a:lstStyle/>
          <a:p>
            <a:fld id="{B961B71F-4B40-8942-BB88-E0F5C0B46E10}" type="slidenum">
              <a:rPr lang="en-US" smtClean="0"/>
              <a:t>6</a:t>
            </a:fld>
            <a:endParaRPr lang="en-US"/>
          </a:p>
        </p:txBody>
      </p:sp>
      <p:pic>
        <p:nvPicPr>
          <p:cNvPr id="2" name="Picture 1">
            <a:extLst>
              <a:ext uri="{FF2B5EF4-FFF2-40B4-BE49-F238E27FC236}">
                <a16:creationId xmlns:a16="http://schemas.microsoft.com/office/drawing/2014/main" id="{46E32AD9-12A7-7C40-05A0-8D056D1960B2}"/>
              </a:ext>
            </a:extLst>
          </p:cNvPr>
          <p:cNvPicPr>
            <a:picLocks noChangeAspect="1"/>
          </p:cNvPicPr>
          <p:nvPr/>
        </p:nvPicPr>
        <p:blipFill>
          <a:blip r:embed="rId2"/>
          <a:stretch>
            <a:fillRect/>
          </a:stretch>
        </p:blipFill>
        <p:spPr>
          <a:xfrm>
            <a:off x="1" y="-396"/>
            <a:ext cx="1458484" cy="690861"/>
          </a:xfrm>
          <a:prstGeom prst="rect">
            <a:avLst/>
          </a:prstGeom>
        </p:spPr>
      </p:pic>
      <p:graphicFrame>
        <p:nvGraphicFramePr>
          <p:cNvPr id="6" name="Table 5">
            <a:extLst>
              <a:ext uri="{FF2B5EF4-FFF2-40B4-BE49-F238E27FC236}">
                <a16:creationId xmlns:a16="http://schemas.microsoft.com/office/drawing/2014/main" id="{2D07D7A9-8878-6941-85F0-B9C44D648371}"/>
              </a:ext>
            </a:extLst>
          </p:cNvPr>
          <p:cNvGraphicFramePr>
            <a:graphicFrameLocks noGrp="1"/>
          </p:cNvGraphicFramePr>
          <p:nvPr>
            <p:extLst>
              <p:ext uri="{D42A27DB-BD31-4B8C-83A1-F6EECF244321}">
                <p14:modId xmlns:p14="http://schemas.microsoft.com/office/powerpoint/2010/main" val="3980787444"/>
              </p:ext>
            </p:extLst>
          </p:nvPr>
        </p:nvGraphicFramePr>
        <p:xfrm>
          <a:off x="841248" y="1874519"/>
          <a:ext cx="10506452" cy="3712464"/>
        </p:xfrm>
        <a:graphic>
          <a:graphicData uri="http://schemas.openxmlformats.org/drawingml/2006/table">
            <a:tbl>
              <a:tblPr/>
              <a:tblGrid>
                <a:gridCol w="320040">
                  <a:extLst>
                    <a:ext uri="{9D8B030D-6E8A-4147-A177-3AD203B41FA5}">
                      <a16:colId xmlns:a16="http://schemas.microsoft.com/office/drawing/2014/main" val="2320967467"/>
                    </a:ext>
                  </a:extLst>
                </a:gridCol>
                <a:gridCol w="402336">
                  <a:extLst>
                    <a:ext uri="{9D8B030D-6E8A-4147-A177-3AD203B41FA5}">
                      <a16:colId xmlns:a16="http://schemas.microsoft.com/office/drawing/2014/main" val="1773147566"/>
                    </a:ext>
                  </a:extLst>
                </a:gridCol>
                <a:gridCol w="877824">
                  <a:extLst>
                    <a:ext uri="{9D8B030D-6E8A-4147-A177-3AD203B41FA5}">
                      <a16:colId xmlns:a16="http://schemas.microsoft.com/office/drawing/2014/main" val="3614679244"/>
                    </a:ext>
                  </a:extLst>
                </a:gridCol>
                <a:gridCol w="1271016">
                  <a:extLst>
                    <a:ext uri="{9D8B030D-6E8A-4147-A177-3AD203B41FA5}">
                      <a16:colId xmlns:a16="http://schemas.microsoft.com/office/drawing/2014/main" val="1867444956"/>
                    </a:ext>
                  </a:extLst>
                </a:gridCol>
                <a:gridCol w="795528">
                  <a:extLst>
                    <a:ext uri="{9D8B030D-6E8A-4147-A177-3AD203B41FA5}">
                      <a16:colId xmlns:a16="http://schemas.microsoft.com/office/drawing/2014/main" val="2466615718"/>
                    </a:ext>
                  </a:extLst>
                </a:gridCol>
                <a:gridCol w="1033271">
                  <a:extLst>
                    <a:ext uri="{9D8B030D-6E8A-4147-A177-3AD203B41FA5}">
                      <a16:colId xmlns:a16="http://schemas.microsoft.com/office/drawing/2014/main" val="3131005202"/>
                    </a:ext>
                  </a:extLst>
                </a:gridCol>
                <a:gridCol w="1033271">
                  <a:extLst>
                    <a:ext uri="{9D8B030D-6E8A-4147-A177-3AD203B41FA5}">
                      <a16:colId xmlns:a16="http://schemas.microsoft.com/office/drawing/2014/main" val="2820496137"/>
                    </a:ext>
                  </a:extLst>
                </a:gridCol>
                <a:gridCol w="795528">
                  <a:extLst>
                    <a:ext uri="{9D8B030D-6E8A-4147-A177-3AD203B41FA5}">
                      <a16:colId xmlns:a16="http://schemas.microsoft.com/office/drawing/2014/main" val="3963344226"/>
                    </a:ext>
                  </a:extLst>
                </a:gridCol>
                <a:gridCol w="795528">
                  <a:extLst>
                    <a:ext uri="{9D8B030D-6E8A-4147-A177-3AD203B41FA5}">
                      <a16:colId xmlns:a16="http://schemas.microsoft.com/office/drawing/2014/main" val="824182350"/>
                    </a:ext>
                  </a:extLst>
                </a:gridCol>
                <a:gridCol w="1033271">
                  <a:extLst>
                    <a:ext uri="{9D8B030D-6E8A-4147-A177-3AD203B41FA5}">
                      <a16:colId xmlns:a16="http://schemas.microsoft.com/office/drawing/2014/main" val="523834847"/>
                    </a:ext>
                  </a:extLst>
                </a:gridCol>
                <a:gridCol w="1033271">
                  <a:extLst>
                    <a:ext uri="{9D8B030D-6E8A-4147-A177-3AD203B41FA5}">
                      <a16:colId xmlns:a16="http://schemas.microsoft.com/office/drawing/2014/main" val="1021730221"/>
                    </a:ext>
                  </a:extLst>
                </a:gridCol>
                <a:gridCol w="1115568">
                  <a:extLst>
                    <a:ext uri="{9D8B030D-6E8A-4147-A177-3AD203B41FA5}">
                      <a16:colId xmlns:a16="http://schemas.microsoft.com/office/drawing/2014/main" val="44805945"/>
                    </a:ext>
                  </a:extLst>
                </a:gridCol>
              </a:tblGrid>
              <a:tr h="310896">
                <a:tc>
                  <a:txBody>
                    <a:bodyPr/>
                    <a:lstStyle/>
                    <a:p>
                      <a:pPr algn="ctr" fontAlgn="ctr">
                        <a:buNone/>
                      </a:pPr>
                      <a:r>
                        <a:rPr lang="en-IN" sz="800" b="1" i="0" u="none" strike="noStrike">
                          <a:solidFill>
                            <a:srgbClr val="000000"/>
                          </a:solidFill>
                          <a:effectLst/>
                          <a:latin typeface="Calibri" panose="020F0502020204030204" pitchFamily="34" charset="0"/>
                        </a:rPr>
                        <a:t xml:space="preserve">Sl No</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800" b="1" i="0" u="none" strike="noStrike">
                          <a:solidFill>
                            <a:srgbClr val="000000"/>
                          </a:solidFill>
                          <a:effectLst/>
                          <a:latin typeface="Calibri" panose="020F0502020204030204" pitchFamily="34" charset="0"/>
                        </a:rPr>
                        <a:t xml:space="preserve">Year</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Authors</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Title of the paper</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Source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Objective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Techniques Used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Dataset Used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Parameters Analysed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Research Inference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Research Gap</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1" i="0" u="none" strike="noStrike" dirty="0">
                          <a:solidFill>
                            <a:srgbClr val="000000"/>
                          </a:solidFill>
                          <a:effectLst/>
                          <a:latin typeface="Calibri" panose="020F0502020204030204" pitchFamily="34" charset="0"/>
                        </a:rPr>
                        <a:t xml:space="preserve">DOI</a:t>
                      </a: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10844040"/>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Goldschmidt &amp; Chuda</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Network Intrusion Datasets: Survey, Limitations, Recommendations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Computers &amp; Security</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Review public NIDS datasets and their suitability</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Systematic review; 13-property comparison</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89 public datasets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Dataset properties; usage in current research</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Data scarcity is the main obstacle; recent datasets go unused</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No agreed practice for dataset selection and reporting</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10.1016/j.cose.2025.104510</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2</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2022</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Holland, Schmitt, Mittal &amp; Feamster</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Towards Reproducible Network Traffic Analysis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arXiv</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Explain why traffic analysis results cannot be compared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pcapML: metadata embedded in captures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Public traffic datasets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Dataset interpretation; pipeline reproducibility</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Inconsistent interpretation prevents judging real advances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No standard dataset format</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10.48550/arXiv.2203.12410</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3</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2024</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Moulton, McCully &amp; Hastings</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Confronting the Reproducibility Crisis in Cybersecurity AI</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IEEE CARS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Document barriers to reproducing published results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Case study using the VeriGauge toolkit</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Prior published experiments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Dependencies; hardware; versioning</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Version conflict and obsolescence defeat reproduction</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No protocol for long-term reproducibility</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10.1109/CARS61786.2024.10778911</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4</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2023</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Lamberts, Wolsing, Wagner et al.</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SoK: Evaluations in Industrial Intrusion Detection Research</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Journal of Systems Research</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Analyse how intrusion detection research evaluates itself</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Systematic analysis of publications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609 publications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Datasets per paper; metric choice</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1.3 datasets per paper on average; metrics stay ambiguous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Fragmented evaluation hides real progress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10.5070/SR33162445</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5</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Wang, Zheng, Gui, Hua &amp; Hassan</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Are We There Yet? Graph Network Intrusion Detection Systems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arXiv</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Reproduce published graph NIDS results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Re-evaluation under adversarial attack</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3 public datasets and 1 enterprise</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False positive rate; robustness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Large performance discrepancies appear on reproduction</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Replication studies are absent from the field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10.48550/arXiv.2503.20281</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6</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Verkerken, D'hooge, Volckaert et al.</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ConCap: Practical Network Traffic Generation for IDS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IEEE SaTML</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Generate realistic labelled traffic reproducibly</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Containerised scenarios from config files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10 activities; 21 variants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Flow equivalence to real traffic; reproducibility</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Generated flows match real traffic for detection purposes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Prior studies rest on unobtainable training data</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10.1109/SaTML68715.2026.00051</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bl>
          </a:graphicData>
        </a:graphic>
      </p:graphicFrame>
      <p:sp>
        <p:nvSpPr>
          <p:cNvPr id="11" name="Footer Placeholder 2">
            <a:extLst>
              <a:ext uri="{FF2B5EF4-FFF2-40B4-BE49-F238E27FC236}">
                <a16:creationId xmlns:a16="http://schemas.microsoft.com/office/drawing/2014/main" id="{1F0CD418-099C-428F-95D7-1D5909D142F7}"/>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3610881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2205BF8-E8B4-C589-5006-CAF232FB4E7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15234DD-6ED1-D656-1294-FA28B66E4582}"/>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 xml:space="preserve">Literature Survey (2 of 3)</a:t>
            </a:r>
          </a:p>
        </p:txBody>
      </p:sp>
      <p:sp>
        <p:nvSpPr>
          <p:cNvPr id="9" name="Content Placeholder 8">
            <a:extLst>
              <a:ext uri="{FF2B5EF4-FFF2-40B4-BE49-F238E27FC236}">
                <a16:creationId xmlns:a16="http://schemas.microsoft.com/office/drawing/2014/main" id="{C5679BD2-A51A-9AA0-A461-44D352276E52}"/>
              </a:ext>
            </a:extLst>
          </p:cNvPr>
          <p:cNvSpPr>
            <a:spLocks noGrp="1"/>
          </p:cNvSpPr>
          <p:nvPr>
            <p:ph idx="1"/>
          </p:nvPr>
        </p:nvSpPr>
        <p:spPr>
          <a:xfrm>
            <a:off x="838200" y="1250731"/>
            <a:ext cx="10515600" cy="5002923"/>
          </a:xfrm>
        </p:spPr>
        <p:txBody>
          <a:bodyPr>
            <a:normAutofit/>
          </a:bodyPr>
          <a:lstStyle/>
          <a:p>
            <a:pPr marL="0" indent="0" eaLnBrk="0" fontAlgn="base" hangingPunct="0">
              <a:lnSpc>
                <a:spcPct val="100000"/>
              </a:lnSpc>
              <a:spcBef>
                <a:spcPct val="0"/>
              </a:spcBef>
              <a:spcAft>
                <a:spcPct val="0"/>
              </a:spcAft>
              <a:buNone/>
            </a:pPr>
            <a:r>
              <a:rPr lang="en-US" altLang="en-US" sz="1400" dirty="0">
                <a:latin typeface="Times New Roman" panose="02020603050405020304" pitchFamily="18" charset="0"/>
                <a:cs typeface="Times New Roman" panose="02020603050405020304" pitchFamily="18" charset="0"/>
              </a:rPr>
              <a:t xml:space="preserve">Seventeen papers published from 2022 onwards on rule-based and learning-based intrusion detection, benchmark datasets, and the reproducibility problems reported for network anomaly detection.</a:t>
            </a:r>
          </a:p>
        </p:txBody>
      </p:sp>
      <p:sp>
        <p:nvSpPr>
          <p:cNvPr id="5" name="Date Placeholder 4">
            <a:extLst>
              <a:ext uri="{FF2B5EF4-FFF2-40B4-BE49-F238E27FC236}">
                <a16:creationId xmlns:a16="http://schemas.microsoft.com/office/drawing/2014/main" id="{B10130AF-494E-777F-45AE-C50709DBF558}"/>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1E301E54-71CD-371A-5333-489712DC684B}"/>
              </a:ext>
            </a:extLst>
          </p:cNvPr>
          <p:cNvSpPr>
            <a:spLocks noGrp="1"/>
          </p:cNvSpPr>
          <p:nvPr>
            <p:ph type="sldNum" sz="quarter" idx="12"/>
          </p:nvPr>
        </p:nvSpPr>
        <p:spPr/>
        <p:txBody>
          <a:bodyPr/>
          <a:lstStyle/>
          <a:p>
            <a:fld id="{B961B71F-4B40-8942-BB88-E0F5C0B46E10}" type="slidenum">
              <a:rPr lang="en-US" smtClean="0"/>
              <a:t>6</a:t>
            </a:fld>
            <a:endParaRPr lang="en-US"/>
          </a:p>
        </p:txBody>
      </p:sp>
      <p:pic>
        <p:nvPicPr>
          <p:cNvPr id="2" name="Picture 1">
            <a:extLst>
              <a:ext uri="{FF2B5EF4-FFF2-40B4-BE49-F238E27FC236}">
                <a16:creationId xmlns:a16="http://schemas.microsoft.com/office/drawing/2014/main" id="{46E32AD9-12A7-7C40-05A0-8D056D1960B2}"/>
              </a:ext>
            </a:extLst>
          </p:cNvPr>
          <p:cNvPicPr>
            <a:picLocks noChangeAspect="1"/>
          </p:cNvPicPr>
          <p:nvPr/>
        </p:nvPicPr>
        <p:blipFill>
          <a:blip r:embed="rId2"/>
          <a:stretch>
            <a:fillRect/>
          </a:stretch>
        </p:blipFill>
        <p:spPr>
          <a:xfrm>
            <a:off x="1" y="-396"/>
            <a:ext cx="1458484" cy="690861"/>
          </a:xfrm>
          <a:prstGeom prst="rect">
            <a:avLst/>
          </a:prstGeom>
        </p:spPr>
      </p:pic>
      <p:graphicFrame>
        <p:nvGraphicFramePr>
          <p:cNvPr id="6" name="Table 5">
            <a:extLst>
              <a:ext uri="{FF2B5EF4-FFF2-40B4-BE49-F238E27FC236}">
                <a16:creationId xmlns:a16="http://schemas.microsoft.com/office/drawing/2014/main" id="{2D07D7A9-8878-6941-85F0-B9C44D648371}"/>
              </a:ext>
            </a:extLst>
          </p:cNvPr>
          <p:cNvGraphicFramePr>
            <a:graphicFrameLocks noGrp="1"/>
          </p:cNvGraphicFramePr>
          <p:nvPr>
            <p:extLst>
              <p:ext uri="{D42A27DB-BD31-4B8C-83A1-F6EECF244321}">
                <p14:modId xmlns:p14="http://schemas.microsoft.com/office/powerpoint/2010/main" val="3980787444"/>
              </p:ext>
            </p:extLst>
          </p:nvPr>
        </p:nvGraphicFramePr>
        <p:xfrm>
          <a:off x="841248" y="1874519"/>
          <a:ext cx="10506452" cy="3712464"/>
        </p:xfrm>
        <a:graphic>
          <a:graphicData uri="http://schemas.openxmlformats.org/drawingml/2006/table">
            <a:tbl>
              <a:tblPr/>
              <a:tblGrid>
                <a:gridCol w="320040">
                  <a:extLst>
                    <a:ext uri="{9D8B030D-6E8A-4147-A177-3AD203B41FA5}">
                      <a16:colId xmlns:a16="http://schemas.microsoft.com/office/drawing/2014/main" val="2320967467"/>
                    </a:ext>
                  </a:extLst>
                </a:gridCol>
                <a:gridCol w="402336">
                  <a:extLst>
                    <a:ext uri="{9D8B030D-6E8A-4147-A177-3AD203B41FA5}">
                      <a16:colId xmlns:a16="http://schemas.microsoft.com/office/drawing/2014/main" val="1773147566"/>
                    </a:ext>
                  </a:extLst>
                </a:gridCol>
                <a:gridCol w="877824">
                  <a:extLst>
                    <a:ext uri="{9D8B030D-6E8A-4147-A177-3AD203B41FA5}">
                      <a16:colId xmlns:a16="http://schemas.microsoft.com/office/drawing/2014/main" val="3614679244"/>
                    </a:ext>
                  </a:extLst>
                </a:gridCol>
                <a:gridCol w="1271016">
                  <a:extLst>
                    <a:ext uri="{9D8B030D-6E8A-4147-A177-3AD203B41FA5}">
                      <a16:colId xmlns:a16="http://schemas.microsoft.com/office/drawing/2014/main" val="1867444956"/>
                    </a:ext>
                  </a:extLst>
                </a:gridCol>
                <a:gridCol w="795528">
                  <a:extLst>
                    <a:ext uri="{9D8B030D-6E8A-4147-A177-3AD203B41FA5}">
                      <a16:colId xmlns:a16="http://schemas.microsoft.com/office/drawing/2014/main" val="2466615718"/>
                    </a:ext>
                  </a:extLst>
                </a:gridCol>
                <a:gridCol w="1033271">
                  <a:extLst>
                    <a:ext uri="{9D8B030D-6E8A-4147-A177-3AD203B41FA5}">
                      <a16:colId xmlns:a16="http://schemas.microsoft.com/office/drawing/2014/main" val="3131005202"/>
                    </a:ext>
                  </a:extLst>
                </a:gridCol>
                <a:gridCol w="1033271">
                  <a:extLst>
                    <a:ext uri="{9D8B030D-6E8A-4147-A177-3AD203B41FA5}">
                      <a16:colId xmlns:a16="http://schemas.microsoft.com/office/drawing/2014/main" val="2820496137"/>
                    </a:ext>
                  </a:extLst>
                </a:gridCol>
                <a:gridCol w="795528">
                  <a:extLst>
                    <a:ext uri="{9D8B030D-6E8A-4147-A177-3AD203B41FA5}">
                      <a16:colId xmlns:a16="http://schemas.microsoft.com/office/drawing/2014/main" val="3963344226"/>
                    </a:ext>
                  </a:extLst>
                </a:gridCol>
                <a:gridCol w="795528">
                  <a:extLst>
                    <a:ext uri="{9D8B030D-6E8A-4147-A177-3AD203B41FA5}">
                      <a16:colId xmlns:a16="http://schemas.microsoft.com/office/drawing/2014/main" val="824182350"/>
                    </a:ext>
                  </a:extLst>
                </a:gridCol>
                <a:gridCol w="1033271">
                  <a:extLst>
                    <a:ext uri="{9D8B030D-6E8A-4147-A177-3AD203B41FA5}">
                      <a16:colId xmlns:a16="http://schemas.microsoft.com/office/drawing/2014/main" val="523834847"/>
                    </a:ext>
                  </a:extLst>
                </a:gridCol>
                <a:gridCol w="1033271">
                  <a:extLst>
                    <a:ext uri="{9D8B030D-6E8A-4147-A177-3AD203B41FA5}">
                      <a16:colId xmlns:a16="http://schemas.microsoft.com/office/drawing/2014/main" val="1021730221"/>
                    </a:ext>
                  </a:extLst>
                </a:gridCol>
                <a:gridCol w="1115568">
                  <a:extLst>
                    <a:ext uri="{9D8B030D-6E8A-4147-A177-3AD203B41FA5}">
                      <a16:colId xmlns:a16="http://schemas.microsoft.com/office/drawing/2014/main" val="44805945"/>
                    </a:ext>
                  </a:extLst>
                </a:gridCol>
              </a:tblGrid>
              <a:tr h="310896">
                <a:tc>
                  <a:txBody>
                    <a:bodyPr/>
                    <a:lstStyle/>
                    <a:p>
                      <a:pPr algn="ctr" fontAlgn="ctr">
                        <a:buNone/>
                      </a:pPr>
                      <a:r>
                        <a:rPr lang="en-IN" sz="800" b="1" i="0" u="none" strike="noStrike">
                          <a:solidFill>
                            <a:srgbClr val="000000"/>
                          </a:solidFill>
                          <a:effectLst/>
                          <a:latin typeface="Calibri" panose="020F0502020204030204" pitchFamily="34" charset="0"/>
                        </a:rPr>
                        <a:t xml:space="preserve">Sl No</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800" b="1" i="0" u="none" strike="noStrike">
                          <a:solidFill>
                            <a:srgbClr val="000000"/>
                          </a:solidFill>
                          <a:effectLst/>
                          <a:latin typeface="Calibri" panose="020F0502020204030204" pitchFamily="34" charset="0"/>
                        </a:rPr>
                        <a:t xml:space="preserve">Year</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Authors</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Title of the paper</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Source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Objective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Techniques Used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Dataset Used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Parameters Analysed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Research Inference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Research Gap</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1" i="0" u="none" strike="noStrike" dirty="0">
                          <a:solidFill>
                            <a:srgbClr val="000000"/>
                          </a:solidFill>
                          <a:effectLst/>
                          <a:latin typeface="Calibri" panose="020F0502020204030204" pitchFamily="34" charset="0"/>
                        </a:rPr>
                        <a:t xml:space="preserve">DOI</a:t>
                      </a: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10844040"/>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7</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Mohale &amp; Obagbuwa</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Systematic Review of Explainable AI in Intrusion Detection</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Frontiers in AI</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Review XAI for the IDS black-box problem</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SHAP; LIME; decision trees; hybrids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CICIDS2017; KDD Cup 99</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Accuracy; false positives; interpretability; cost</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Overhead and the accuracy trade-off block real-time XAI</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No standard interpretability metric</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10.3389/frai.2025.1526221</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8</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2024</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Kumar &amp; Thing</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Evaluating the Explainability of Deep Learning NIDS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arXiv</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Assess whether DL NIDS decisions can be explained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XAI tools; global and local agreement criteria</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Several attack datasets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Explainability per model; agreement between tools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XAI tools disagree with each other on most models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Prior work ignored state-of-the-art DL NIDS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10.48550/arXiv.2408.14040</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9</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2023</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Wei, Jang-Jaccard, Singh et al.</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DDoS Attack Detection and Explanation using SHAP</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arXiv</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Classify DDoS traffic and explain the classification</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XGBoost SHAP selection; MLP classifier</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DDoS attack dataset</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Feature importance; accuracy</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Above 99% accuracy on 20 selected features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Interpretability asserted but not standardised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10.48550/arXiv.2306.17190</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10</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Teuwen, Mulders, Zambon &amp; Allodi</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Ruling the Unruly: Low-Noise Intrusion Detection Rules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ACM</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Identify what makes a signature-based rule good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Empirical study; interviews with rule designers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Rules and alerts from a commercial SOC</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Rule specificity; analyst workload; coverage</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Six design principles; generalised rules raise coverage and workload</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Coverage versus analyst workload unresolved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10.1145/3708821.3710823</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11</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2023</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Alharbi &amp; Khan</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Ensemble Defense System: A Hybrid IDS Approach</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IEEE ITNAC</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Combine signature and anomaly detection in one framework</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Suricata; Zeek; Slips; Elasticsearch</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Scripted port scan, privilege escalation, DoS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Detection across attack categories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The hybrid framework detected every tested attack category</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No evaluation of alert volume at scale</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10.1109/ITNAC59571.2023.10368510</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12</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Miguel-Diez, Campazas-Vega et al.</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Anomaly Detection in Network Flows using Unsupervised Online ML</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arXiv</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Detect anomalies without labelled training data</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Online One-Class SVM (River library)</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NF-UNSW-NB15 and v2</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Accuracy &gt;98%; false positives &lt;3.1%; 0.033 ms per flow</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Online unsupervised detection is fast enough for real time</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Generalisation across networks not established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10.48550/arXiv.2509.01375</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bl>
          </a:graphicData>
        </a:graphic>
      </p:graphicFrame>
      <p:sp>
        <p:nvSpPr>
          <p:cNvPr id="11" name="Footer Placeholder 2">
            <a:extLst>
              <a:ext uri="{FF2B5EF4-FFF2-40B4-BE49-F238E27FC236}">
                <a16:creationId xmlns:a16="http://schemas.microsoft.com/office/drawing/2014/main" id="{1F0CD418-099C-428F-95D7-1D5909D142F7}"/>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3610881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2205BF8-E8B4-C589-5006-CAF232FB4E78}"/>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15234DD-6ED1-D656-1294-FA28B66E4582}"/>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 xml:space="preserve">Literature Survey (3 of 3)</a:t>
            </a:r>
          </a:p>
        </p:txBody>
      </p:sp>
      <p:sp>
        <p:nvSpPr>
          <p:cNvPr id="9" name="Content Placeholder 8">
            <a:extLst>
              <a:ext uri="{FF2B5EF4-FFF2-40B4-BE49-F238E27FC236}">
                <a16:creationId xmlns:a16="http://schemas.microsoft.com/office/drawing/2014/main" id="{C5679BD2-A51A-9AA0-A461-44D352276E52}"/>
              </a:ext>
            </a:extLst>
          </p:cNvPr>
          <p:cNvSpPr>
            <a:spLocks noGrp="1"/>
          </p:cNvSpPr>
          <p:nvPr>
            <p:ph idx="1"/>
          </p:nvPr>
        </p:nvSpPr>
        <p:spPr>
          <a:xfrm>
            <a:off x="838200" y="1250731"/>
            <a:ext cx="10515600" cy="5002923"/>
          </a:xfrm>
        </p:spPr>
        <p:txBody>
          <a:bodyPr>
            <a:normAutofit/>
          </a:bodyPr>
          <a:lstStyle/>
          <a:p>
            <a:pPr marL="0" indent="0" eaLnBrk="0" fontAlgn="base" hangingPunct="0">
              <a:lnSpc>
                <a:spcPct val="100000"/>
              </a:lnSpc>
              <a:spcBef>
                <a:spcPct val="0"/>
              </a:spcBef>
              <a:spcAft>
                <a:spcPct val="0"/>
              </a:spcAft>
              <a:buNone/>
            </a:pPr>
            <a:r>
              <a:rPr lang="en-US" altLang="en-US" sz="1400" dirty="0">
                <a:latin typeface="Times New Roman" panose="02020603050405020304" pitchFamily="18" charset="0"/>
                <a:cs typeface="Times New Roman" panose="02020603050405020304" pitchFamily="18" charset="0"/>
              </a:rPr>
              <a:t xml:space="preserve">Seventeen papers published from 2022 onwards on rule-based and learning-based intrusion detection, benchmark datasets, and the reproducibility problems reported for network anomaly detection.</a:t>
            </a:r>
          </a:p>
        </p:txBody>
      </p:sp>
      <p:sp>
        <p:nvSpPr>
          <p:cNvPr id="5" name="Date Placeholder 4">
            <a:extLst>
              <a:ext uri="{FF2B5EF4-FFF2-40B4-BE49-F238E27FC236}">
                <a16:creationId xmlns:a16="http://schemas.microsoft.com/office/drawing/2014/main" id="{B10130AF-494E-777F-45AE-C50709DBF558}"/>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1E301E54-71CD-371A-5333-489712DC684B}"/>
              </a:ext>
            </a:extLst>
          </p:cNvPr>
          <p:cNvSpPr>
            <a:spLocks noGrp="1"/>
          </p:cNvSpPr>
          <p:nvPr>
            <p:ph type="sldNum" sz="quarter" idx="12"/>
          </p:nvPr>
        </p:nvSpPr>
        <p:spPr/>
        <p:txBody>
          <a:bodyPr/>
          <a:lstStyle/>
          <a:p>
            <a:fld id="{B961B71F-4B40-8942-BB88-E0F5C0B46E10}" type="slidenum">
              <a:rPr lang="en-US" smtClean="0"/>
              <a:t>6</a:t>
            </a:fld>
            <a:endParaRPr lang="en-US"/>
          </a:p>
        </p:txBody>
      </p:sp>
      <p:pic>
        <p:nvPicPr>
          <p:cNvPr id="2" name="Picture 1">
            <a:extLst>
              <a:ext uri="{FF2B5EF4-FFF2-40B4-BE49-F238E27FC236}">
                <a16:creationId xmlns:a16="http://schemas.microsoft.com/office/drawing/2014/main" id="{46E32AD9-12A7-7C40-05A0-8D056D1960B2}"/>
              </a:ext>
            </a:extLst>
          </p:cNvPr>
          <p:cNvPicPr>
            <a:picLocks noChangeAspect="1"/>
          </p:cNvPicPr>
          <p:nvPr/>
        </p:nvPicPr>
        <p:blipFill>
          <a:blip r:embed="rId2"/>
          <a:stretch>
            <a:fillRect/>
          </a:stretch>
        </p:blipFill>
        <p:spPr>
          <a:xfrm>
            <a:off x="1" y="-396"/>
            <a:ext cx="1458484" cy="690861"/>
          </a:xfrm>
          <a:prstGeom prst="rect">
            <a:avLst/>
          </a:prstGeom>
        </p:spPr>
      </p:pic>
      <p:graphicFrame>
        <p:nvGraphicFramePr>
          <p:cNvPr id="6" name="Table 5">
            <a:extLst>
              <a:ext uri="{FF2B5EF4-FFF2-40B4-BE49-F238E27FC236}">
                <a16:creationId xmlns:a16="http://schemas.microsoft.com/office/drawing/2014/main" id="{2D07D7A9-8878-6941-85F0-B9C44D648371}"/>
              </a:ext>
            </a:extLst>
          </p:cNvPr>
          <p:cNvGraphicFramePr>
            <a:graphicFrameLocks noGrp="1"/>
          </p:cNvGraphicFramePr>
          <p:nvPr>
            <p:extLst>
              <p:ext uri="{D42A27DB-BD31-4B8C-83A1-F6EECF244321}">
                <p14:modId xmlns:p14="http://schemas.microsoft.com/office/powerpoint/2010/main" val="3980787444"/>
              </p:ext>
            </p:extLst>
          </p:nvPr>
        </p:nvGraphicFramePr>
        <p:xfrm>
          <a:off x="841248" y="1874519"/>
          <a:ext cx="10506452" cy="3145536"/>
        </p:xfrm>
        <a:graphic>
          <a:graphicData uri="http://schemas.openxmlformats.org/drawingml/2006/table">
            <a:tbl>
              <a:tblPr/>
              <a:tblGrid>
                <a:gridCol w="320040">
                  <a:extLst>
                    <a:ext uri="{9D8B030D-6E8A-4147-A177-3AD203B41FA5}">
                      <a16:colId xmlns:a16="http://schemas.microsoft.com/office/drawing/2014/main" val="2320967467"/>
                    </a:ext>
                  </a:extLst>
                </a:gridCol>
                <a:gridCol w="402336">
                  <a:extLst>
                    <a:ext uri="{9D8B030D-6E8A-4147-A177-3AD203B41FA5}">
                      <a16:colId xmlns:a16="http://schemas.microsoft.com/office/drawing/2014/main" val="1773147566"/>
                    </a:ext>
                  </a:extLst>
                </a:gridCol>
                <a:gridCol w="877824">
                  <a:extLst>
                    <a:ext uri="{9D8B030D-6E8A-4147-A177-3AD203B41FA5}">
                      <a16:colId xmlns:a16="http://schemas.microsoft.com/office/drawing/2014/main" val="3614679244"/>
                    </a:ext>
                  </a:extLst>
                </a:gridCol>
                <a:gridCol w="1271016">
                  <a:extLst>
                    <a:ext uri="{9D8B030D-6E8A-4147-A177-3AD203B41FA5}">
                      <a16:colId xmlns:a16="http://schemas.microsoft.com/office/drawing/2014/main" val="1867444956"/>
                    </a:ext>
                  </a:extLst>
                </a:gridCol>
                <a:gridCol w="795528">
                  <a:extLst>
                    <a:ext uri="{9D8B030D-6E8A-4147-A177-3AD203B41FA5}">
                      <a16:colId xmlns:a16="http://schemas.microsoft.com/office/drawing/2014/main" val="2466615718"/>
                    </a:ext>
                  </a:extLst>
                </a:gridCol>
                <a:gridCol w="1033271">
                  <a:extLst>
                    <a:ext uri="{9D8B030D-6E8A-4147-A177-3AD203B41FA5}">
                      <a16:colId xmlns:a16="http://schemas.microsoft.com/office/drawing/2014/main" val="3131005202"/>
                    </a:ext>
                  </a:extLst>
                </a:gridCol>
                <a:gridCol w="1033271">
                  <a:extLst>
                    <a:ext uri="{9D8B030D-6E8A-4147-A177-3AD203B41FA5}">
                      <a16:colId xmlns:a16="http://schemas.microsoft.com/office/drawing/2014/main" val="2820496137"/>
                    </a:ext>
                  </a:extLst>
                </a:gridCol>
                <a:gridCol w="795528">
                  <a:extLst>
                    <a:ext uri="{9D8B030D-6E8A-4147-A177-3AD203B41FA5}">
                      <a16:colId xmlns:a16="http://schemas.microsoft.com/office/drawing/2014/main" val="3963344226"/>
                    </a:ext>
                  </a:extLst>
                </a:gridCol>
                <a:gridCol w="795528">
                  <a:extLst>
                    <a:ext uri="{9D8B030D-6E8A-4147-A177-3AD203B41FA5}">
                      <a16:colId xmlns:a16="http://schemas.microsoft.com/office/drawing/2014/main" val="824182350"/>
                    </a:ext>
                  </a:extLst>
                </a:gridCol>
                <a:gridCol w="1033271">
                  <a:extLst>
                    <a:ext uri="{9D8B030D-6E8A-4147-A177-3AD203B41FA5}">
                      <a16:colId xmlns:a16="http://schemas.microsoft.com/office/drawing/2014/main" val="523834847"/>
                    </a:ext>
                  </a:extLst>
                </a:gridCol>
                <a:gridCol w="1033271">
                  <a:extLst>
                    <a:ext uri="{9D8B030D-6E8A-4147-A177-3AD203B41FA5}">
                      <a16:colId xmlns:a16="http://schemas.microsoft.com/office/drawing/2014/main" val="1021730221"/>
                    </a:ext>
                  </a:extLst>
                </a:gridCol>
                <a:gridCol w="1115568">
                  <a:extLst>
                    <a:ext uri="{9D8B030D-6E8A-4147-A177-3AD203B41FA5}">
                      <a16:colId xmlns:a16="http://schemas.microsoft.com/office/drawing/2014/main" val="44805945"/>
                    </a:ext>
                  </a:extLst>
                </a:gridCol>
              </a:tblGrid>
              <a:tr h="310896">
                <a:tc>
                  <a:txBody>
                    <a:bodyPr/>
                    <a:lstStyle/>
                    <a:p>
                      <a:pPr algn="ctr" fontAlgn="ctr">
                        <a:buNone/>
                      </a:pPr>
                      <a:r>
                        <a:rPr lang="en-IN" sz="800" b="1" i="0" u="none" strike="noStrike">
                          <a:solidFill>
                            <a:srgbClr val="000000"/>
                          </a:solidFill>
                          <a:effectLst/>
                          <a:latin typeface="Calibri" panose="020F0502020204030204" pitchFamily="34" charset="0"/>
                        </a:rPr>
                        <a:t xml:space="preserve">Sl No</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sz="800" b="1" i="0" u="none" strike="noStrike">
                          <a:solidFill>
                            <a:srgbClr val="000000"/>
                          </a:solidFill>
                          <a:effectLst/>
                          <a:latin typeface="Calibri" panose="020F0502020204030204" pitchFamily="34" charset="0"/>
                        </a:rPr>
                        <a:t xml:space="preserve">Year</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Authors</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Title of the paper</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Source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Objective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Techniques Used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Dataset Used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Parameters Analysed</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Research Inference</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IN" sz="800" b="1" i="0" u="none" strike="noStrike">
                          <a:solidFill>
                            <a:srgbClr val="000000"/>
                          </a:solidFill>
                          <a:effectLst/>
                          <a:latin typeface="Calibri" panose="020F0502020204030204" pitchFamily="34" charset="0"/>
                        </a:rPr>
                        <a:t xml:space="preserve">Research Gap</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1" i="0" u="none" strike="noStrike" dirty="0">
                          <a:solidFill>
                            <a:srgbClr val="000000"/>
                          </a:solidFill>
                          <a:effectLst/>
                          <a:latin typeface="Calibri" panose="020F0502020204030204" pitchFamily="34" charset="0"/>
                        </a:rPr>
                        <a:t xml:space="preserve">DOI</a:t>
                      </a: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10844040"/>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13</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2024</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Talukder, Islam, Uddin et al.</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ML Network Intrusion Detection for Big and Imbalanced Data</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Journal of Big Data</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Handle class imbalance in large intrusion datasets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Oversampling; stacking embedding; PCA; DT/RF/ET</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UNSW-NB15; CIC-IDS2017; CIC-IDS2018</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Accuracy per dataset and classifier</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Accuracy of 99.59-99.99% reported across three datasets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Near-perfect accuracy invites leakage questions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10.48550/arXiv.2401.12262</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14</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2024</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Vitorino, Silva, Maia &amp; Praca</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An Adversarial Robustness Benchmark for Enterprise NIDS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FPS 2023</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Compare model robustness under standard conditions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RF; XGBoost; LightGBM; EBM; adversarial training</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CICIDS2017; NewCICIDS; HIKARI</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Robustness; false alarm rate; generalisation</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The corrected dataset improved results; adversarial training helped</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Transferability across environments untested</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10.1007/978-3-031-57537-2_1</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15</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Xu, Wu, Wang, Gao et al.</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Deep Learning-based Intrusion Detection Systems: A Survey</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arXiv</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Survey the full deep-learning IDS pipeline</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Review across six pipeline stages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Public DL-IDS benchmarks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Generalisation; zero-day detection</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Deep learning generalises beyond signature matching</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Pipeline stages are studied in isolation</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10.48550/arXiv.2504.07839</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16</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Feng &amp; Sakurai</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NIDS: From Conventional Approaches to LLM Collaboration</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arXiv</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Trace NIDS from signatures through neural nets to LLMs</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Literature review across network, vehicular and IoT settings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Datasets of the reviewed studies</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Signature effectiveness; LLM benefit and risk</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Signature methods retain value; neural detection still hard to deploy</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LLM deployment and LLM-enabled attacks are open</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10.48550/arXiv.2510.23313</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r h="566928">
                <a:tc>
                  <a:txBody>
                    <a:bodyPr/>
                    <a:lstStyle/>
                    <a:p>
                      <a:pPr algn="r" fontAlgn="ctr">
                        <a:buNone/>
                      </a:pPr>
                      <a:r>
                        <a:rPr lang="en-IN" sz="800" b="1" i="0" u="none" strike="noStrike">
                          <a:solidFill>
                            <a:srgbClr val="000000"/>
                          </a:solidFill>
                          <a:effectLst/>
                          <a:latin typeface="Calibri" panose="020F0502020204030204" pitchFamily="34" charset="0"/>
                        </a:rPr>
                        <a:t xml:space="preserve">17</a:t>
                      </a: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en-IN" sz="800" b="0" i="0" u="none" strike="noStrike" dirty="0">
                          <a:solidFill>
                            <a:srgbClr val="000000"/>
                          </a:solidFill>
                          <a:effectLst/>
                          <a:latin typeface="Times New Roman" panose="02020603050405020304" pitchFamily="18" charset="0"/>
                        </a:rPr>
                        <a:t xml:space="preserve">2025</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dirty="0">
                          <a:solidFill>
                            <a:srgbClr val="000000"/>
                          </a:solidFill>
                          <a:effectLst/>
                          <a:latin typeface="Times New Roman" panose="02020603050405020304" pitchFamily="18" charset="0"/>
                        </a:rPr>
                        <a:t xml:space="preserve">Jamshidi, Nafi, Nikanjam &amp; Khomh</a:t>
                      </a:r>
                      <a:endParaRPr lang="en-IN"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Evaluating ML-Driven IDS in IoT: Performance and Energy</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Computers &amp; Industrial Engineering</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Measure the cost of running ML IDS at the network edge</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Empirical comparison of ML and DL IDS; ANOVA</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IN" sz="800" b="0" i="0" u="none" strike="noStrike">
                          <a:solidFill>
                            <a:srgbClr val="000000"/>
                          </a:solidFill>
                          <a:effectLst/>
                          <a:latin typeface="Times New Roman" panose="02020603050405020304" pitchFamily="18" charset="0"/>
                        </a:rPr>
                        <a:t xml:space="preserve">Edge deployment, benign and attack</a:t>
                      </a:r>
                      <a:endParaRPr lang="en-IN"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CPU load; CPU usage; energy consumption</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a:solidFill>
                            <a:srgbClr val="000000"/>
                          </a:solidFill>
                          <a:effectLst/>
                          <a:latin typeface="Times New Roman" panose="02020603050405020304" pitchFamily="18" charset="0"/>
                        </a:rPr>
                        <a:t xml:space="preserve">Edge IDS raise resource consumption sharply during attacks</a:t>
                      </a:r>
                      <a:endParaRPr lang="en-US" sz="1000" b="0" i="0" u="none" strike="noStrike">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en-US" sz="800" b="0" i="0" u="none" strike="noStrike" dirty="0">
                          <a:solidFill>
                            <a:srgbClr val="000000"/>
                          </a:solidFill>
                          <a:effectLst/>
                          <a:latin typeface="Times New Roman" panose="02020603050405020304" pitchFamily="18" charset="0"/>
                        </a:rPr>
                        <a:t xml:space="preserve">Little work measures IDS cost under real-time threat</a:t>
                      </a:r>
                      <a:endParaRPr lang="en-US" sz="1000" b="0" i="0" u="none" strike="noStrike" dirty="0">
                        <a:solidFill>
                          <a:srgbClr val="000000"/>
                        </a:solidFill>
                        <a:effectLst/>
                        <a:latin typeface="Times New Roman" panose="02020603050405020304" pitchFamily="18" charset="0"/>
                      </a:endParaRPr>
                    </a:p>
                  </a:txBody>
                  <a:tcPr marL="6694" marR="6694" marT="669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800" b="0" i="0" u="none" strike="noStrike" dirty="0">
                          <a:solidFill>
                            <a:srgbClr val="000000"/>
                          </a:solidFill>
                          <a:effectLst/>
                          <a:latin typeface="Calibri" panose="020F0502020204030204" pitchFamily="34" charset="0"/>
                        </a:rPr>
                        <a:t xml:space="preserve">10.1016/j.cie.2025.111103</a:t>
                      </a:r>
                      <a:endParaRPr lang="en-IN" sz="1000" b="0" i="0" u="none" strike="noStrike" dirty="0">
                        <a:solidFill>
                          <a:srgbClr val="000000"/>
                        </a:solidFill>
                        <a:effectLst/>
                        <a:latin typeface="Calibri" panose="020F0502020204030204" pitchFamily="34" charset="0"/>
                      </a:endParaRPr>
                    </a:p>
                  </a:txBody>
                  <a:tcPr marL="6694" marR="6694" marT="669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56022503"/>
                  </a:ext>
                </a:extLst>
              </a:tr>
            </a:tbl>
          </a:graphicData>
        </a:graphic>
      </p:graphicFrame>
      <p:sp>
        <p:nvSpPr>
          <p:cNvPr id="11" name="Footer Placeholder 2">
            <a:extLst>
              <a:ext uri="{FF2B5EF4-FFF2-40B4-BE49-F238E27FC236}">
                <a16:creationId xmlns:a16="http://schemas.microsoft.com/office/drawing/2014/main" id="{1F0CD418-099C-428F-95D7-1D5909D142F7}"/>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3610881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B54B581-3E21-4B4E-2A35-F67D3096E59F}"/>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48C83F0-76BD-4B96-85D5-C1FAD7356279}"/>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Research Gap Identification</a:t>
            </a:r>
          </a:p>
        </p:txBody>
      </p:sp>
      <p:sp>
        <p:nvSpPr>
          <p:cNvPr id="9" name="Content Placeholder 8">
            <a:extLst>
              <a:ext uri="{FF2B5EF4-FFF2-40B4-BE49-F238E27FC236}">
                <a16:creationId xmlns:a16="http://schemas.microsoft.com/office/drawing/2014/main" id="{552B6941-B56F-78EF-6572-0086C4B21BD4}"/>
              </a:ext>
            </a:extLst>
          </p:cNvPr>
          <p:cNvSpPr>
            <a:spLocks noGrp="1"/>
          </p:cNvSpPr>
          <p:nvPr>
            <p:ph idx="1"/>
          </p:nvPr>
        </p:nvSpPr>
        <p:spPr>
          <a:xfrm>
            <a:off x="838200" y="1493134"/>
            <a:ext cx="10515600" cy="1209961"/>
          </a:xfrm>
        </p:spPr>
        <p:txBody>
          <a:bodyPr>
            <a:normAutofit/>
          </a:bodyPr>
          <a:lstStyle/>
          <a:p>
            <a:pPr algn="just" eaLnBrk="0" fontAlgn="base" hangingPunct="0">
              <a:lnSpc>
                <a:spcPct val="100000"/>
              </a:lnSpc>
              <a:spcBef>
                <a:spcPct val="0"/>
              </a:spcBef>
              <a:spcAft>
                <a:spcPct val="0"/>
              </a:spcAft>
            </a:pPr>
            <a:r>
              <a:rPr lang="en-IN" sz="2000" b="1" dirty="0"/>
              <a:t xml:space="preserve">Gaps addressed: detection windows measured against the system clock make results irreproducible; learning-based alerts carry no reason an analyst can act on; traffic without realistic attack bursts hides what is detectable.</a:t>
            </a:r>
          </a:p>
        </p:txBody>
      </p:sp>
      <p:sp>
        <p:nvSpPr>
          <p:cNvPr id="5" name="Date Placeholder 4">
            <a:extLst>
              <a:ext uri="{FF2B5EF4-FFF2-40B4-BE49-F238E27FC236}">
                <a16:creationId xmlns:a16="http://schemas.microsoft.com/office/drawing/2014/main" id="{E9E4C048-DC99-8545-9D85-18D18CC66C3F}"/>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A85A645B-E9B2-A17C-A19D-59B4792D4E40}"/>
              </a:ext>
            </a:extLst>
          </p:cNvPr>
          <p:cNvSpPr>
            <a:spLocks noGrp="1"/>
          </p:cNvSpPr>
          <p:nvPr>
            <p:ph type="sldNum" sz="quarter" idx="12"/>
          </p:nvPr>
        </p:nvSpPr>
        <p:spPr/>
        <p:txBody>
          <a:bodyPr/>
          <a:lstStyle/>
          <a:p>
            <a:fld id="{B961B71F-4B40-8942-BB88-E0F5C0B46E10}" type="slidenum">
              <a:rPr lang="en-US" smtClean="0"/>
              <a:t>7</a:t>
            </a:fld>
            <a:endParaRPr lang="en-US"/>
          </a:p>
        </p:txBody>
      </p:sp>
      <p:pic>
        <p:nvPicPr>
          <p:cNvPr id="2" name="Picture 1">
            <a:extLst>
              <a:ext uri="{FF2B5EF4-FFF2-40B4-BE49-F238E27FC236}">
                <a16:creationId xmlns:a16="http://schemas.microsoft.com/office/drawing/2014/main" id="{FF7B1205-708D-AB89-EA58-78AFC93D26FF}"/>
              </a:ext>
            </a:extLst>
          </p:cNvPr>
          <p:cNvPicPr>
            <a:picLocks noChangeAspect="1"/>
          </p:cNvPicPr>
          <p:nvPr/>
        </p:nvPicPr>
        <p:blipFill>
          <a:blip r:embed="rId2"/>
          <a:stretch>
            <a:fillRect/>
          </a:stretch>
        </p:blipFill>
        <p:spPr>
          <a:xfrm>
            <a:off x="1" y="-396"/>
            <a:ext cx="1458484" cy="690861"/>
          </a:xfrm>
          <a:prstGeom prst="rect">
            <a:avLst/>
          </a:prstGeom>
        </p:spPr>
      </p:pic>
      <p:graphicFrame>
        <p:nvGraphicFramePr>
          <p:cNvPr id="3" name="Table 2">
            <a:extLst>
              <a:ext uri="{FF2B5EF4-FFF2-40B4-BE49-F238E27FC236}">
                <a16:creationId xmlns:a16="http://schemas.microsoft.com/office/drawing/2014/main" id="{BEF1EDB7-8761-CEC4-B291-FF5C19314D39}"/>
              </a:ext>
            </a:extLst>
          </p:cNvPr>
          <p:cNvGraphicFramePr>
            <a:graphicFrameLocks noGrp="1"/>
          </p:cNvGraphicFramePr>
          <p:nvPr>
            <p:extLst>
              <p:ext uri="{D42A27DB-BD31-4B8C-83A1-F6EECF244321}">
                <p14:modId xmlns:p14="http://schemas.microsoft.com/office/powerpoint/2010/main" val="3523712854"/>
              </p:ext>
            </p:extLst>
          </p:nvPr>
        </p:nvGraphicFramePr>
        <p:xfrm>
          <a:off x="841248" y="2606040"/>
          <a:ext cx="10515600" cy="1463040"/>
        </p:xfrm>
        <a:graphic>
          <a:graphicData uri="http://schemas.openxmlformats.org/drawingml/2006/table">
            <a:tbl>
              <a:tblPr/>
              <a:tblGrid>
                <a:gridCol w="457200">
                  <a:extLst>
                    <a:ext uri="{9D8B030D-6E8A-4147-A177-3AD203B41FA5}">
                      <a16:colId xmlns:a16="http://schemas.microsoft.com/office/drawing/2014/main" val="833555039"/>
                    </a:ext>
                  </a:extLst>
                </a:gridCol>
                <a:gridCol w="2286000">
                  <a:extLst>
                    <a:ext uri="{9D8B030D-6E8A-4147-A177-3AD203B41FA5}">
                      <a16:colId xmlns:a16="http://schemas.microsoft.com/office/drawing/2014/main" val="848811906"/>
                    </a:ext>
                  </a:extLst>
                </a:gridCol>
                <a:gridCol w="1554480">
                  <a:extLst>
                    <a:ext uri="{9D8B030D-6E8A-4147-A177-3AD203B41FA5}">
                      <a16:colId xmlns:a16="http://schemas.microsoft.com/office/drawing/2014/main" val="1963808402"/>
                    </a:ext>
                  </a:extLst>
                </a:gridCol>
                <a:gridCol w="2377440">
                  <a:extLst>
                    <a:ext uri="{9D8B030D-6E8A-4147-A177-3AD203B41FA5}">
                      <a16:colId xmlns:a16="http://schemas.microsoft.com/office/drawing/2014/main" val="7160780"/>
                    </a:ext>
                  </a:extLst>
                </a:gridCol>
                <a:gridCol w="1920240">
                  <a:extLst>
                    <a:ext uri="{9D8B030D-6E8A-4147-A177-3AD203B41FA5}">
                      <a16:colId xmlns:a16="http://schemas.microsoft.com/office/drawing/2014/main" val="315075706"/>
                    </a:ext>
                  </a:extLst>
                </a:gridCol>
                <a:gridCol w="1920240">
                  <a:extLst>
                    <a:ext uri="{9D8B030D-6E8A-4147-A177-3AD203B41FA5}">
                      <a16:colId xmlns:a16="http://schemas.microsoft.com/office/drawing/2014/main" val="3069808396"/>
                    </a:ext>
                  </a:extLst>
                </a:gridCol>
              </a:tblGrid>
              <a:tr h="365760">
                <a:tc>
                  <a:txBody>
                    <a:bodyPr/>
                    <a:lstStyle/>
                    <a:p>
                      <a:pPr>
                        <a:buNone/>
                      </a:pPr>
                      <a:r>
                        <a:rPr lang="en-IN" sz="1500" b="1" dirty="0" err="1"/>
                        <a:t>S.No</a:t>
                      </a:r>
                      <a:r>
                        <a:rPr lang="en-IN" sz="1500" b="1" dirty="0"/>
                        <a:t>.</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b="1" dirty="0"/>
                        <a:t>Paper Title</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b="1" dirty="0"/>
                        <a:t>Author Name(s)</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b="1" dirty="0"/>
                        <a:t>Methodology / Model Used</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b="1" dirty="0"/>
                        <a:t>Key Findings</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b="1" dirty="0"/>
                        <a:t>Research Gap Identified</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59430168"/>
                  </a:ext>
                </a:extLst>
              </a:tr>
              <a:tr h="365760">
                <a:tc>
                  <a:txBody>
                    <a:bodyPr/>
                    <a:lstStyle/>
                    <a:p>
                      <a:pPr>
                        <a:buNone/>
                      </a:pPr>
                      <a:r>
                        <a:rPr lang="en-IN" sz="1500"/>
                        <a:t xml:space="preserve">1</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Towards Reproducible Network Traffic Analysis</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dirty="0"/>
                        <a:t xml:space="preserve">Holland et al.</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dirty="0"/>
                        <a:t xml:space="preserve">pcapML; standardised capture metadata</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Inconsistent dataset interpretation blocks comparison</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No standard format, so results cannot be compared</a:t>
                      </a:r>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20118778"/>
                  </a:ext>
                </a:extLst>
              </a:tr>
              <a:tr h="365760">
                <a:tc>
                  <a:txBody>
                    <a:bodyPr/>
                    <a:lstStyle/>
                    <a:p>
                      <a:pPr>
                        <a:buNone/>
                      </a:pPr>
                      <a:r>
                        <a:rPr lang="en-IN" sz="1500" dirty="0"/>
                        <a:t xml:space="preserve">2</a:t>
                      </a:r>
                      <a:endParaRPr lang="en-IN" sz="1500" dirty="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SoK: Evaluations in Industrial IDS Research</a:t>
                      </a:r>
                      <a:endParaRPr lang="en-IN" sz="150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dirty="0"/>
                        <a:t xml:space="preserve">Lamberts et al.</a:t>
                      </a:r>
                      <a:endParaRPr lang="en-IN" sz="1500" dirty="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Systematic analysis of 609 papers</a:t>
                      </a:r>
                      <a:endParaRPr lang="en-IN" sz="150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1.3 datasets per paper; metrics ambiguous</a:t>
                      </a:r>
                      <a:endParaRPr lang="en-IN" sz="150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Fragmented evaluation hides real progress</a:t>
                      </a:r>
                      <a:endParaRPr lang="en-IN" sz="150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5268322"/>
                  </a:ext>
                </a:extLst>
              </a:tr>
              <a:tr h="365760">
                <a:tc>
                  <a:txBody>
                    <a:bodyPr/>
                    <a:lstStyle/>
                    <a:p>
                      <a:pPr>
                        <a:buNone/>
                      </a:pPr>
                      <a:r>
                        <a:rPr lang="en-IN" sz="1500"/>
                        <a:t xml:space="preserve">3</a:t>
                      </a:r>
                      <a:endParaRPr lang="en-IN" sz="150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Ruling the Unruly: Low-Noise IDS Rules</a:t>
                      </a:r>
                      <a:endParaRPr lang="en-IN" sz="150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dirty="0"/>
                        <a:t xml:space="preserve">Teuwen et al.</a:t>
                      </a:r>
                      <a:endParaRPr lang="en-IN" sz="1500" dirty="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a:t xml:space="preserve">Empirical study of deployed SOC rules</a:t>
                      </a:r>
                      <a:endParaRPr lang="en-IN" sz="150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dirty="0"/>
                        <a:t xml:space="preserve">Generalised rules raise coverage and workload together</a:t>
                      </a:r>
                      <a:endParaRPr lang="en-IN" sz="1500" dirty="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500" dirty="0"/>
                        <a:t xml:space="preserve">Rule quality is undefined without stated thresholds</a:t>
                      </a:r>
                      <a:endParaRPr lang="en-IN" sz="1500" dirty="0"/>
                    </a:p>
                  </a:txBody>
                  <a:tcPr marL="76339" marR="76339" marT="38170" marB="381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16177523"/>
                  </a:ext>
                </a:extLst>
              </a:tr>
            </a:tbl>
          </a:graphicData>
        </a:graphic>
      </p:graphicFrame>
      <p:sp>
        <p:nvSpPr>
          <p:cNvPr id="11" name="Footer Placeholder 2">
            <a:extLst>
              <a:ext uri="{FF2B5EF4-FFF2-40B4-BE49-F238E27FC236}">
                <a16:creationId xmlns:a16="http://schemas.microsoft.com/office/drawing/2014/main" id="{1A2691C9-D5FC-4B5D-BC2B-27DFE115B382}"/>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7623403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2C7D688-871F-CFE8-3EFB-2BBFC942F7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465BC6B-ACEF-FABD-97D9-3F740AFEA650}"/>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Innovation, Creativity, and Novelty</a:t>
            </a:r>
          </a:p>
        </p:txBody>
      </p:sp>
      <p:sp>
        <p:nvSpPr>
          <p:cNvPr id="9" name="Content Placeholder 8">
            <a:extLst>
              <a:ext uri="{FF2B5EF4-FFF2-40B4-BE49-F238E27FC236}">
                <a16:creationId xmlns:a16="http://schemas.microsoft.com/office/drawing/2014/main" id="{9A148468-70F0-62F4-D77B-031E25FC61F1}"/>
              </a:ext>
            </a:extLst>
          </p:cNvPr>
          <p:cNvSpPr>
            <a:spLocks noGrp="1"/>
          </p:cNvSpPr>
          <p:nvPr>
            <p:ph idx="1"/>
          </p:nvPr>
        </p:nvSpPr>
        <p:spPr>
          <a:xfrm>
            <a:off x="838200" y="1250731"/>
            <a:ext cx="10515600" cy="5002923"/>
          </a:xfrm>
        </p:spPr>
        <p:txBody>
          <a:bodyPr>
            <a:normAutofit/>
          </a:bodyPr>
          <a:lstStyle/>
          <a:p>
            <a:pPr eaLnBrk="0" fontAlgn="base" hangingPunct="0">
              <a:lnSpc>
                <a:spcPct val="100000"/>
              </a:lnSpc>
              <a:spcBef>
                <a:spcPct val="0"/>
              </a:spcBef>
              <a:spcAft>
                <a:spcPct val="0"/>
              </a:spcAft>
            </a:pPr>
            <a:endParaRPr lang="en-US" sz="2000" dirty="0"/>
          </a:p>
          <a:p>
            <a:pPr eaLnBrk="0" fontAlgn="base" hangingPunct="0">
              <a:lnSpc>
                <a:spcPct val="100000"/>
              </a:lnSpc>
              <a:spcBef>
                <a:spcPct val="0"/>
              </a:spcBef>
              <a:spcAft>
                <a:spcPct val="0"/>
              </a:spcAft>
            </a:pPr>
            <a:endParaRPr lang="en-US" altLang="en-US" sz="2000" dirty="0">
              <a:latin typeface="Times New Roman" panose="02020603050405020304" pitchFamily="18" charset="0"/>
              <a:cs typeface="Times New Roman" panose="02020603050405020304" pitchFamily="18" charset="0"/>
            </a:endParaRPr>
          </a:p>
        </p:txBody>
      </p:sp>
      <p:sp>
        <p:nvSpPr>
          <p:cNvPr id="5" name="Date Placeholder 4">
            <a:extLst>
              <a:ext uri="{FF2B5EF4-FFF2-40B4-BE49-F238E27FC236}">
                <a16:creationId xmlns:a16="http://schemas.microsoft.com/office/drawing/2014/main" id="{FB766324-58AB-8C24-3FA5-CA8446FB06E8}"/>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1BB3A364-68CB-FD95-0846-F866F5F20636}"/>
              </a:ext>
            </a:extLst>
          </p:cNvPr>
          <p:cNvSpPr>
            <a:spLocks noGrp="1"/>
          </p:cNvSpPr>
          <p:nvPr>
            <p:ph type="sldNum" sz="quarter" idx="12"/>
          </p:nvPr>
        </p:nvSpPr>
        <p:spPr/>
        <p:txBody>
          <a:bodyPr/>
          <a:lstStyle/>
          <a:p>
            <a:fld id="{B961B71F-4B40-8942-BB88-E0F5C0B46E10}" type="slidenum">
              <a:rPr lang="en-US" smtClean="0"/>
              <a:t>8</a:t>
            </a:fld>
            <a:endParaRPr lang="en-US"/>
          </a:p>
        </p:txBody>
      </p:sp>
      <p:pic>
        <p:nvPicPr>
          <p:cNvPr id="2" name="Picture 1">
            <a:extLst>
              <a:ext uri="{FF2B5EF4-FFF2-40B4-BE49-F238E27FC236}">
                <a16:creationId xmlns:a16="http://schemas.microsoft.com/office/drawing/2014/main" id="{16BA0F1E-63D2-5C99-0AEF-AE9D06F3E65E}"/>
              </a:ext>
            </a:extLst>
          </p:cNvPr>
          <p:cNvPicPr>
            <a:picLocks noChangeAspect="1"/>
          </p:cNvPicPr>
          <p:nvPr/>
        </p:nvPicPr>
        <p:blipFill>
          <a:blip r:embed="rId2"/>
          <a:stretch>
            <a:fillRect/>
          </a:stretch>
        </p:blipFill>
        <p:spPr>
          <a:xfrm>
            <a:off x="1" y="-396"/>
            <a:ext cx="1458484" cy="690861"/>
          </a:xfrm>
          <a:prstGeom prst="rect">
            <a:avLst/>
          </a:prstGeom>
        </p:spPr>
      </p:pic>
      <p:sp>
        <p:nvSpPr>
          <p:cNvPr id="4" name="TextBox 3">
            <a:extLst>
              <a:ext uri="{FF2B5EF4-FFF2-40B4-BE49-F238E27FC236}">
                <a16:creationId xmlns:a16="http://schemas.microsoft.com/office/drawing/2014/main" id="{51EFC2A6-D5E1-4B0E-EBA1-4D4D15920815}"/>
              </a:ext>
            </a:extLst>
          </p:cNvPr>
          <p:cNvSpPr txBox="1"/>
          <p:nvPr/>
        </p:nvSpPr>
        <p:spPr>
          <a:xfrm>
            <a:off x="1180618" y="1858655"/>
            <a:ext cx="9593179" cy="2585323"/>
          </a:xfrm>
          <a:prstGeom prst="rect">
            <a:avLst/>
          </a:prstGeom>
          <a:noFill/>
        </p:spPr>
        <p:txBody>
          <a:bodyPr wrap="square">
            <a:spAutoFit/>
          </a:bodyPr>
          <a:lstStyle/>
          <a:p>
            <a:pPr>
              <a:buNone/>
            </a:pPr>
            <a:r>
              <a:rPr lang="en-IN" b="1" dirty="0"/>
              <a:t>Innovation</a:t>
            </a:r>
          </a:p>
          <a:p>
            <a:pPr marL="342900" lvl="0" indent="-342900">
              <a:buFont typeface="Arial" panose="020B0604020202020204" pitchFamily="34" charset="0"/>
              <a:buChar char="•"/>
            </a:pPr>
            <a:r>
              <a:rPr lang="en-IN" dirty="0"/>
              <a:t xml:space="preserve">Detection windows are anchored on the timestamp of the record being examined rather than on the system clock, so the same input produces the same output on any machine, in any timezone, at any hour.</a:t>
            </a:r>
          </a:p>
          <a:p>
            <a:pPr marL="342900" lvl="0" indent="-342900">
              <a:buFont typeface="Arial" panose="020B0604020202020204" pitchFamily="34" charset="0"/>
              <a:buChar char="•"/>
            </a:pPr>
            <a:endParaRPr lang="en-IN" b="1" dirty="0"/>
          </a:p>
          <a:p>
            <a:pPr lvl="0"/>
            <a:r>
              <a:rPr lang="en-IN" b="1" dirty="0"/>
              <a:t>Creativity</a:t>
            </a:r>
          </a:p>
          <a:p>
            <a:pPr marL="342900" lvl="0" indent="-342900">
              <a:buFont typeface="Arial" panose="020B0604020202020204" pitchFamily="34" charset="0"/>
              <a:buChar char="•"/>
            </a:pPr>
            <a:r>
              <a:rPr lang="en-IN" dirty="0"/>
              <a:t xml:space="preserve">The dataset generator emits attacks as timed campaigns rather than scattered records, because density in time is the signal the detectors rely on. A seed reproduces the dataset byte for byte, so any result can be re-derived.</a:t>
            </a:r>
          </a:p>
          <a:p>
            <a:pPr>
              <a:buNone/>
            </a:pPr>
            <a:endParaRPr lang="en-IN" b="1" dirty="0"/>
          </a:p>
          <a:p>
            <a:pPr>
              <a:buNone/>
            </a:pPr>
            <a:r>
              <a:rPr lang="en-IN" b="1" dirty="0"/>
              <a:t>Novelty</a:t>
            </a:r>
          </a:p>
          <a:p>
            <a:pPr marL="342900" lvl="0" indent="-342900">
              <a:buFont typeface="Arial" panose="020B0604020202020204" pitchFamily="34" charset="0"/>
              <a:buChar char="•"/>
            </a:pPr>
            <a:r>
              <a:rPr lang="en-IN" dirty="0"/>
              <a:t xml:space="preserve">Every alert carries the rule, threshold and description that produced it, addressing the explainability gap left by learning-based detectors. Determinism, idempotency and reproducibility are verified by measurement.</a:t>
            </a:r>
          </a:p>
        </p:txBody>
      </p:sp>
      <p:sp>
        <p:nvSpPr>
          <p:cNvPr id="11" name="Footer Placeholder 2">
            <a:extLst>
              <a:ext uri="{FF2B5EF4-FFF2-40B4-BE49-F238E27FC236}">
                <a16:creationId xmlns:a16="http://schemas.microsoft.com/office/drawing/2014/main" id="{444AC3EB-3F86-4AA5-854B-7AEEB8EE2B29}"/>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33500413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522124-E786-BCBD-47AD-A1A7AA1DA56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12C2661-5AB9-3306-326F-7FD2F83DB2B0}"/>
              </a:ext>
            </a:extLst>
          </p:cNvPr>
          <p:cNvSpPr>
            <a:spLocks noGrp="1"/>
          </p:cNvSpPr>
          <p:nvPr>
            <p:ph type="title"/>
          </p:nvPr>
        </p:nvSpPr>
        <p:spPr>
          <a:xfrm>
            <a:off x="1180618" y="365125"/>
            <a:ext cx="10173182" cy="1128009"/>
          </a:xfrm>
        </p:spPr>
        <p:txBody>
          <a:bodyPr>
            <a:normAutofit/>
          </a:bodyPr>
          <a:lstStyle/>
          <a:p>
            <a:pPr algn="ctr"/>
            <a:r>
              <a:rPr lang="en-IN" b="1" dirty="0">
                <a:latin typeface="Times New Roman" panose="02020603050405020304" pitchFamily="18" charset="0"/>
                <a:cs typeface="Times New Roman" panose="02020603050405020304" pitchFamily="18" charset="0"/>
              </a:rPr>
              <a:t xml:space="preserve">Methodology</a:t>
            </a:r>
          </a:p>
        </p:txBody>
      </p:sp>
      <p:sp>
        <p:nvSpPr>
          <p:cNvPr id="9" name="Content Placeholder 8">
            <a:extLst>
              <a:ext uri="{FF2B5EF4-FFF2-40B4-BE49-F238E27FC236}">
                <a16:creationId xmlns:a16="http://schemas.microsoft.com/office/drawing/2014/main" id="{B7B926EC-3DBE-8D00-A4DE-40000C0B9746}"/>
              </a:ext>
            </a:extLst>
          </p:cNvPr>
          <p:cNvSpPr>
            <a:spLocks noGrp="1"/>
          </p:cNvSpPr>
          <p:nvPr>
            <p:ph idx="1"/>
          </p:nvPr>
        </p:nvSpPr>
        <p:spPr>
          <a:xfrm>
            <a:off x="838200" y="1260158"/>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Dataset design</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A week of traffic on a 192.168.1.0/24 network is modelled, with attacks emitted as timed campaigns rather than isolated records, because density in time is what a detector can recognise.</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Extract, transform, load</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Timestamps are normalised to a single stored format, records are inserted into SQLite, and five indexes are built over time, source and destination.</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Detection</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Each record is evaluated against the traffic that preceded it, inside a window that ends at that record's own timestamp. Six rules are applied in a fixed order and the first match assigns type, severity and description.</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Verification</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Determinism is measured across independent runs, idempotency by re-execution over a scanned database, and reproducibility from a fixed seed.</a:t>
            </a:r>
          </a:p>
        </p:txBody>
      </p:sp>
      <p:sp>
        <p:nvSpPr>
          <p:cNvPr id="5" name="Date Placeholder 4">
            <a:extLst>
              <a:ext uri="{FF2B5EF4-FFF2-40B4-BE49-F238E27FC236}">
                <a16:creationId xmlns:a16="http://schemas.microsoft.com/office/drawing/2014/main" id="{7B8C7DBE-8B58-804A-6C39-91193A7ECF4F}"/>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7B53D3A6-F1ED-0DAD-DE43-F3A755A78A23}"/>
              </a:ext>
            </a:extLst>
          </p:cNvPr>
          <p:cNvSpPr>
            <a:spLocks noGrp="1"/>
          </p:cNvSpPr>
          <p:nvPr>
            <p:ph type="sldNum" sz="quarter" idx="12"/>
          </p:nvPr>
        </p:nvSpPr>
        <p:spPr/>
        <p:txBody>
          <a:bodyPr/>
          <a:lstStyle/>
          <a:p>
            <a:fld id="{B961B71F-4B40-8942-BB88-E0F5C0B46E10}" type="slidenum">
              <a:rPr lang="en-US" smtClean="0"/>
              <a:t>3</a:t>
            </a:fld>
            <a:endParaRPr lang="en-US"/>
          </a:p>
        </p:txBody>
      </p:sp>
      <p:pic>
        <p:nvPicPr>
          <p:cNvPr id="2" name="Picture 1">
            <a:extLst>
              <a:ext uri="{FF2B5EF4-FFF2-40B4-BE49-F238E27FC236}">
                <a16:creationId xmlns:a16="http://schemas.microsoft.com/office/drawing/2014/main" id="{ABEFA699-0799-F3B0-1E5B-DEAFB30C59B0}"/>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3C34A4E9-B1D7-4F59-982A-7518E00546D4}"/>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0115990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522124-E786-BCBD-47AD-A1A7AA1DA56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12C2661-5AB9-3306-326F-7FD2F83DB2B0}"/>
              </a:ext>
            </a:extLst>
          </p:cNvPr>
          <p:cNvSpPr>
            <a:spLocks noGrp="1"/>
          </p:cNvSpPr>
          <p:nvPr>
            <p:ph type="title"/>
          </p:nvPr>
        </p:nvSpPr>
        <p:spPr>
          <a:xfrm>
            <a:off x="1180618" y="365125"/>
            <a:ext cx="10173182" cy="1128009"/>
          </a:xfrm>
        </p:spPr>
        <p:txBody>
          <a:bodyPr>
            <a:normAutofit/>
          </a:bodyPr>
          <a:lstStyle/>
          <a:p>
            <a:pPr algn="ctr"/>
            <a:r>
              <a:rPr lang="en-IN" b="1" dirty="0">
                <a:latin typeface="Times New Roman" panose="02020603050405020304" pitchFamily="18" charset="0"/>
                <a:cs typeface="Times New Roman" panose="02020603050405020304" pitchFamily="18" charset="0"/>
              </a:rPr>
              <a:t xml:space="preserve">System Design and Architecture</a:t>
            </a:r>
          </a:p>
        </p:txBody>
      </p:sp>
      <p:sp>
        <p:nvSpPr>
          <p:cNvPr id="9" name="Content Placeholder 8">
            <a:extLst>
              <a:ext uri="{FF2B5EF4-FFF2-40B4-BE49-F238E27FC236}">
                <a16:creationId xmlns:a16="http://schemas.microsoft.com/office/drawing/2014/main" id="{B7B926EC-3DBE-8D00-A4DE-40000C0B9746}"/>
              </a:ext>
            </a:extLst>
          </p:cNvPr>
          <p:cNvSpPr>
            <a:spLocks noGrp="1"/>
          </p:cNvSpPr>
          <p:nvPr>
            <p:ph idx="1"/>
          </p:nvPr>
        </p:nvSpPr>
        <p:spPr>
          <a:xfrm>
            <a:off x="838200" y="1260158"/>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Four layers, one direction of flow</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Generation - log_generator.py produces 5,000 records, of which 275 belong to five labelled attack campaigns.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Storage - database.py normalises timestamps and loads records into SQLite; five indexes cover time, source, destination and destination-port lookups.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Detection - anomaly_detector.py applies six rules per record and writes each match to an anomalies table keyed to the originating log id.</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Presentation - dashboard.py reads both tables and renders five views.</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Design decisions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Detections are stored rather than recomputed, so the dashboard cannot disagree with the detector. Every window and threshold is a method argument, not a constant buried in a query.</a:t>
            </a:r>
          </a:p>
        </p:txBody>
      </p:sp>
      <p:sp>
        <p:nvSpPr>
          <p:cNvPr id="5" name="Date Placeholder 4">
            <a:extLst>
              <a:ext uri="{FF2B5EF4-FFF2-40B4-BE49-F238E27FC236}">
                <a16:creationId xmlns:a16="http://schemas.microsoft.com/office/drawing/2014/main" id="{7B8C7DBE-8B58-804A-6C39-91193A7ECF4F}"/>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7B53D3A6-F1ED-0DAD-DE43-F3A755A78A23}"/>
              </a:ext>
            </a:extLst>
          </p:cNvPr>
          <p:cNvSpPr>
            <a:spLocks noGrp="1"/>
          </p:cNvSpPr>
          <p:nvPr>
            <p:ph type="sldNum" sz="quarter" idx="12"/>
          </p:nvPr>
        </p:nvSpPr>
        <p:spPr/>
        <p:txBody>
          <a:bodyPr/>
          <a:lstStyle/>
          <a:p>
            <a:fld id="{B961B71F-4B40-8942-BB88-E0F5C0B46E10}" type="slidenum">
              <a:rPr lang="en-US" smtClean="0"/>
              <a:t>3</a:t>
            </a:fld>
            <a:endParaRPr lang="en-US"/>
          </a:p>
        </p:txBody>
      </p:sp>
      <p:pic>
        <p:nvPicPr>
          <p:cNvPr id="2" name="Picture 1">
            <a:extLst>
              <a:ext uri="{FF2B5EF4-FFF2-40B4-BE49-F238E27FC236}">
                <a16:creationId xmlns:a16="http://schemas.microsoft.com/office/drawing/2014/main" id="{ABEFA699-0799-F3B0-1E5B-DEAFB30C59B0}"/>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3C34A4E9-B1D7-4F59-982A-7518E00546D4}"/>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0115990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522124-E786-BCBD-47AD-A1A7AA1DA56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12C2661-5AB9-3306-326F-7FD2F83DB2B0}"/>
              </a:ext>
            </a:extLst>
          </p:cNvPr>
          <p:cNvSpPr>
            <a:spLocks noGrp="1"/>
          </p:cNvSpPr>
          <p:nvPr>
            <p:ph type="title"/>
          </p:nvPr>
        </p:nvSpPr>
        <p:spPr>
          <a:xfrm>
            <a:off x="1180618" y="365125"/>
            <a:ext cx="10173182" cy="1128009"/>
          </a:xfrm>
        </p:spPr>
        <p:txBody>
          <a:bodyPr>
            <a:normAutofit/>
          </a:bodyPr>
          <a:lstStyle/>
          <a:p>
            <a:pPr algn="ctr"/>
            <a:r>
              <a:rPr lang="en-IN" b="1" dirty="0">
                <a:latin typeface="Times New Roman" panose="02020603050405020304" pitchFamily="18" charset="0"/>
                <a:cs typeface="Times New Roman" panose="02020603050405020304" pitchFamily="18" charset="0"/>
              </a:rPr>
              <a:t xml:space="preserve">Use of Modern Tools and Technologies</a:t>
            </a:r>
          </a:p>
        </p:txBody>
      </p:sp>
      <p:sp>
        <p:nvSpPr>
          <p:cNvPr id="9" name="Content Placeholder 8">
            <a:extLst>
              <a:ext uri="{FF2B5EF4-FFF2-40B4-BE49-F238E27FC236}">
                <a16:creationId xmlns:a16="http://schemas.microsoft.com/office/drawing/2014/main" id="{B7B926EC-3DBE-8D00-A4DE-40000C0B9746}"/>
              </a:ext>
            </a:extLst>
          </p:cNvPr>
          <p:cNvSpPr>
            <a:spLocks noGrp="1"/>
          </p:cNvSpPr>
          <p:nvPr>
            <p:ph idx="1"/>
          </p:nvPr>
        </p:nvSpPr>
        <p:spPr>
          <a:xfrm>
            <a:off x="838200" y="1260158"/>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Python 3.14 - pipeline, detection rules and verification scripts</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SQLite 3.50 - embedded relational storage with indexed time-window queries</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pandas 3.0 - record handling and aggregation</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Streamlit 1.64 - interactive dashboard served on localhost</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Plotly 7.1 - six native interactive charts</a:t>
            </a:r>
          </a:p>
          <a:p>
            <a:pPr marL="0" indent="0" eaLnBrk="0" fontAlgn="base" hangingPunct="0">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Git - version control, as required by the capstone policy</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Why these</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Every dependency is open source and installs without a server, so the system runs unchanged on any examiner's machine. Seeded generation and lower bounds in requirements.txt keep a demonstration repeatable.</a:t>
            </a:r>
          </a:p>
        </p:txBody>
      </p:sp>
      <p:sp>
        <p:nvSpPr>
          <p:cNvPr id="5" name="Date Placeholder 4">
            <a:extLst>
              <a:ext uri="{FF2B5EF4-FFF2-40B4-BE49-F238E27FC236}">
                <a16:creationId xmlns:a16="http://schemas.microsoft.com/office/drawing/2014/main" id="{7B8C7DBE-8B58-804A-6C39-91193A7ECF4F}"/>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7B53D3A6-F1ED-0DAD-DE43-F3A755A78A23}"/>
              </a:ext>
            </a:extLst>
          </p:cNvPr>
          <p:cNvSpPr>
            <a:spLocks noGrp="1"/>
          </p:cNvSpPr>
          <p:nvPr>
            <p:ph type="sldNum" sz="quarter" idx="12"/>
          </p:nvPr>
        </p:nvSpPr>
        <p:spPr/>
        <p:txBody>
          <a:bodyPr/>
          <a:lstStyle/>
          <a:p>
            <a:fld id="{B961B71F-4B40-8942-BB88-E0F5C0B46E10}" type="slidenum">
              <a:rPr lang="en-US" smtClean="0"/>
              <a:t>3</a:t>
            </a:fld>
            <a:endParaRPr lang="en-US"/>
          </a:p>
        </p:txBody>
      </p:sp>
      <p:pic>
        <p:nvPicPr>
          <p:cNvPr id="2" name="Picture 1">
            <a:extLst>
              <a:ext uri="{FF2B5EF4-FFF2-40B4-BE49-F238E27FC236}">
                <a16:creationId xmlns:a16="http://schemas.microsoft.com/office/drawing/2014/main" id="{ABEFA699-0799-F3B0-1E5B-DEAFB30C59B0}"/>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3C34A4E9-B1D7-4F59-982A-7518E00546D4}"/>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011599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522124-E786-BCBD-47AD-A1A7AA1DA56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12C2661-5AB9-3306-326F-7FD2F83DB2B0}"/>
              </a:ext>
            </a:extLst>
          </p:cNvPr>
          <p:cNvSpPr>
            <a:spLocks noGrp="1"/>
          </p:cNvSpPr>
          <p:nvPr>
            <p:ph type="title"/>
          </p:nvPr>
        </p:nvSpPr>
        <p:spPr>
          <a:xfrm>
            <a:off x="1180618" y="365125"/>
            <a:ext cx="10173182" cy="1128009"/>
          </a:xfrm>
        </p:spPr>
        <p:txBody>
          <a:bodyPr>
            <a:normAutofit/>
          </a:bodyPr>
          <a:lstStyle/>
          <a:p>
            <a:pPr algn="ctr"/>
            <a:r>
              <a:rPr lang="en-IN" b="1" dirty="0">
                <a:latin typeface="Times New Roman" panose="02020603050405020304" pitchFamily="18" charset="0"/>
                <a:cs typeface="Times New Roman" panose="02020603050405020304" pitchFamily="18" charset="0"/>
              </a:rPr>
              <a:t xml:space="preserve">Implementation, Coding Quality, and Functionality</a:t>
            </a:r>
          </a:p>
        </p:txBody>
      </p:sp>
      <p:sp>
        <p:nvSpPr>
          <p:cNvPr id="9" name="Content Placeholder 8">
            <a:extLst>
              <a:ext uri="{FF2B5EF4-FFF2-40B4-BE49-F238E27FC236}">
                <a16:creationId xmlns:a16="http://schemas.microsoft.com/office/drawing/2014/main" id="{B7B926EC-3DBE-8D00-A4DE-40000C0B9746}"/>
              </a:ext>
            </a:extLst>
          </p:cNvPr>
          <p:cNvSpPr>
            <a:spLocks noGrp="1"/>
          </p:cNvSpPr>
          <p:nvPr>
            <p:ph idx="1"/>
          </p:nvPr>
        </p:nvSpPr>
        <p:spPr>
          <a:xfrm>
            <a:off x="838200" y="1627632"/>
            <a:ext cx="10515600" cy="4626864"/>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Implementation</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Four modules, 869 lines of Python: log_generator.py (165), database.py (219), anomaly_detector.py (199) and dashboard.py (286).</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Coding quality</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Every SQL statement is parameterised, so no address, port or threshold is interpolated into a query as a string. Each module carries docstrings, each rule is a separate method with its thresholds as named arguments, and paths resolve relative to the source file rather than the working directory.</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Functionality</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Generation, load, detection and dashboard all run end to end from a clean checkout in 1.2 seconds. Detection is idempotent, so the pipeline can be re-run without corrupting counts.</a:t>
            </a:r>
          </a:p>
        </p:txBody>
      </p:sp>
      <p:sp>
        <p:nvSpPr>
          <p:cNvPr id="5" name="Date Placeholder 4">
            <a:extLst>
              <a:ext uri="{FF2B5EF4-FFF2-40B4-BE49-F238E27FC236}">
                <a16:creationId xmlns:a16="http://schemas.microsoft.com/office/drawing/2014/main" id="{7B8C7DBE-8B58-804A-6C39-91193A7ECF4F}"/>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7B53D3A6-F1ED-0DAD-DE43-F3A755A78A23}"/>
              </a:ext>
            </a:extLst>
          </p:cNvPr>
          <p:cNvSpPr>
            <a:spLocks noGrp="1"/>
          </p:cNvSpPr>
          <p:nvPr>
            <p:ph type="sldNum" sz="quarter" idx="12"/>
          </p:nvPr>
        </p:nvSpPr>
        <p:spPr/>
        <p:txBody>
          <a:bodyPr/>
          <a:lstStyle/>
          <a:p>
            <a:fld id="{B961B71F-4B40-8942-BB88-E0F5C0B46E10}" type="slidenum">
              <a:rPr lang="en-US" smtClean="0"/>
              <a:t>3</a:t>
            </a:fld>
            <a:endParaRPr lang="en-US"/>
          </a:p>
        </p:txBody>
      </p:sp>
      <p:pic>
        <p:nvPicPr>
          <p:cNvPr id="2" name="Picture 1">
            <a:extLst>
              <a:ext uri="{FF2B5EF4-FFF2-40B4-BE49-F238E27FC236}">
                <a16:creationId xmlns:a16="http://schemas.microsoft.com/office/drawing/2014/main" id="{ABEFA699-0799-F3B0-1E5B-DEAFB30C59B0}"/>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3C34A4E9-B1D7-4F59-982A-7518E00546D4}"/>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0115990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522124-E786-BCBD-47AD-A1A7AA1DA56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12C2661-5AB9-3306-326F-7FD2F83DB2B0}"/>
              </a:ext>
            </a:extLst>
          </p:cNvPr>
          <p:cNvSpPr>
            <a:spLocks noGrp="1"/>
          </p:cNvSpPr>
          <p:nvPr>
            <p:ph type="title"/>
          </p:nvPr>
        </p:nvSpPr>
        <p:spPr>
          <a:xfrm>
            <a:off x="1180618" y="365125"/>
            <a:ext cx="10173182" cy="1128009"/>
          </a:xfrm>
        </p:spPr>
        <p:txBody>
          <a:bodyPr>
            <a:normAutofit/>
          </a:bodyPr>
          <a:lstStyle/>
          <a:p>
            <a:pPr algn="ctr"/>
            <a:r>
              <a:rPr lang="en-IN" b="1" dirty="0">
                <a:latin typeface="Times New Roman" panose="02020603050405020304" pitchFamily="18" charset="0"/>
                <a:cs typeface="Times New Roman" panose="02020603050405020304" pitchFamily="18" charset="0"/>
              </a:rPr>
              <a:t xml:space="preserve">Experimental Setup and Preliminary Results</a:t>
            </a:r>
          </a:p>
        </p:txBody>
      </p:sp>
      <p:sp>
        <p:nvSpPr>
          <p:cNvPr id="9" name="Content Placeholder 8">
            <a:extLst>
              <a:ext uri="{FF2B5EF4-FFF2-40B4-BE49-F238E27FC236}">
                <a16:creationId xmlns:a16="http://schemas.microsoft.com/office/drawing/2014/main" id="{B7B926EC-3DBE-8D00-A4DE-40000C0B9746}"/>
              </a:ext>
            </a:extLst>
          </p:cNvPr>
          <p:cNvSpPr>
            <a:spLocks noGrp="1"/>
          </p:cNvSpPr>
          <p:nvPr>
            <p:ph idx="1"/>
          </p:nvPr>
        </p:nvSpPr>
        <p:spPr>
          <a:xfrm>
            <a:off x="838200" y="1627632"/>
            <a:ext cx="10515600" cy="4626864"/>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Setup</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Windows 11, Python 3.14, SQLite 3.50. Dataset: 5,000 connection records spanning seven days, of which 275 belong to attack campaigns. Procedure: generate, load, detect and measure, repeated over three independent runs.</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Results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268 records flagged, a detection rate of 5.4%. By rule: brute force 79, suspicious IP 74, DDoS 61, port scan 30, uncommon port 13, exfiltration 11. By severity: 140 high, 104 medium, 13 low, 11 critical. Full pipeline runtime 1.2 seconds.</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Verification</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Three independent runs returned 267, 267 and 268 detections; three rebuilds from one dataset returned 268 every time. Re-running the detector over a scanned database added nothing. A seeded dataset reproduced byte for byte.</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Defect found and corrected</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Windows anchored on the system clock reported 2,580 detections, 51% of all traffic, and a different figure at every hour. Anchoring on log time returns 268, stable across runs and timezones.</a:t>
            </a:r>
          </a:p>
        </p:txBody>
      </p:sp>
      <p:sp>
        <p:nvSpPr>
          <p:cNvPr id="5" name="Date Placeholder 4">
            <a:extLst>
              <a:ext uri="{FF2B5EF4-FFF2-40B4-BE49-F238E27FC236}">
                <a16:creationId xmlns:a16="http://schemas.microsoft.com/office/drawing/2014/main" id="{7B8C7DBE-8B58-804A-6C39-91193A7ECF4F}"/>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7B53D3A6-F1ED-0DAD-DE43-F3A755A78A23}"/>
              </a:ext>
            </a:extLst>
          </p:cNvPr>
          <p:cNvSpPr>
            <a:spLocks noGrp="1"/>
          </p:cNvSpPr>
          <p:nvPr>
            <p:ph type="sldNum" sz="quarter" idx="12"/>
          </p:nvPr>
        </p:nvSpPr>
        <p:spPr/>
        <p:txBody>
          <a:bodyPr/>
          <a:lstStyle/>
          <a:p>
            <a:fld id="{B961B71F-4B40-8942-BB88-E0F5C0B46E10}" type="slidenum">
              <a:rPr lang="en-US" smtClean="0"/>
              <a:t>3</a:t>
            </a:fld>
            <a:endParaRPr lang="en-US"/>
          </a:p>
        </p:txBody>
      </p:sp>
      <p:pic>
        <p:nvPicPr>
          <p:cNvPr id="2" name="Picture 1">
            <a:extLst>
              <a:ext uri="{FF2B5EF4-FFF2-40B4-BE49-F238E27FC236}">
                <a16:creationId xmlns:a16="http://schemas.microsoft.com/office/drawing/2014/main" id="{ABEFA699-0799-F3B0-1E5B-DEAFB30C59B0}"/>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3C34A4E9-B1D7-4F59-982A-7518E00546D4}"/>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011599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2C7D688-871F-CFE8-3EFB-2BBFC942F7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465BC6B-ACEF-FABD-97D9-3F740AFEA650}"/>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Feasibility and Project Plan</a:t>
            </a:r>
          </a:p>
        </p:txBody>
      </p:sp>
      <p:sp>
        <p:nvSpPr>
          <p:cNvPr id="9" name="Content Placeholder 8">
            <a:extLst>
              <a:ext uri="{FF2B5EF4-FFF2-40B4-BE49-F238E27FC236}">
                <a16:creationId xmlns:a16="http://schemas.microsoft.com/office/drawing/2014/main" id="{9A148468-70F0-62F4-D77B-031E25FC61F1}"/>
              </a:ext>
            </a:extLst>
          </p:cNvPr>
          <p:cNvSpPr>
            <a:spLocks noGrp="1"/>
          </p:cNvSpPr>
          <p:nvPr>
            <p:ph idx="1"/>
          </p:nvPr>
        </p:nvSpPr>
        <p:spPr>
          <a:xfrm>
            <a:off x="838200" y="1250731"/>
            <a:ext cx="10515600" cy="5002923"/>
          </a:xfrm>
        </p:spPr>
        <p:txBody>
          <a:bodyPr>
            <a:normAutofit/>
          </a:bodyPr>
          <a:lstStyle/>
          <a:p>
            <a:pPr eaLnBrk="0" fontAlgn="base" hangingPunct="0">
              <a:lnSpc>
                <a:spcPct val="100000"/>
              </a:lnSpc>
              <a:spcBef>
                <a:spcPct val="0"/>
              </a:spcBef>
              <a:spcAft>
                <a:spcPct val="0"/>
              </a:spcAft>
            </a:pPr>
            <a:endParaRPr lang="en-US" sz="2000" dirty="0"/>
          </a:p>
          <a:p>
            <a:pPr eaLnBrk="0" fontAlgn="base" hangingPunct="0">
              <a:lnSpc>
                <a:spcPct val="100000"/>
              </a:lnSpc>
              <a:spcBef>
                <a:spcPct val="0"/>
              </a:spcBef>
              <a:spcAft>
                <a:spcPct val="0"/>
              </a:spcAft>
            </a:pPr>
            <a:endParaRPr lang="en-US" altLang="en-US" sz="2000" dirty="0">
              <a:latin typeface="Times New Roman" panose="02020603050405020304" pitchFamily="18" charset="0"/>
              <a:cs typeface="Times New Roman" panose="02020603050405020304" pitchFamily="18" charset="0"/>
            </a:endParaRPr>
          </a:p>
        </p:txBody>
      </p:sp>
      <p:sp>
        <p:nvSpPr>
          <p:cNvPr id="5" name="Date Placeholder 4">
            <a:extLst>
              <a:ext uri="{FF2B5EF4-FFF2-40B4-BE49-F238E27FC236}">
                <a16:creationId xmlns:a16="http://schemas.microsoft.com/office/drawing/2014/main" id="{FB766324-58AB-8C24-3FA5-CA8446FB06E8}"/>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1BB3A364-68CB-FD95-0846-F866F5F20636}"/>
              </a:ext>
            </a:extLst>
          </p:cNvPr>
          <p:cNvSpPr>
            <a:spLocks noGrp="1"/>
          </p:cNvSpPr>
          <p:nvPr>
            <p:ph type="sldNum" sz="quarter" idx="12"/>
          </p:nvPr>
        </p:nvSpPr>
        <p:spPr/>
        <p:txBody>
          <a:bodyPr/>
          <a:lstStyle/>
          <a:p>
            <a:fld id="{B961B71F-4B40-8942-BB88-E0F5C0B46E10}" type="slidenum">
              <a:rPr lang="en-US" smtClean="0"/>
              <a:t>9</a:t>
            </a:fld>
            <a:endParaRPr lang="en-US"/>
          </a:p>
        </p:txBody>
      </p:sp>
      <p:pic>
        <p:nvPicPr>
          <p:cNvPr id="2" name="Picture 1">
            <a:extLst>
              <a:ext uri="{FF2B5EF4-FFF2-40B4-BE49-F238E27FC236}">
                <a16:creationId xmlns:a16="http://schemas.microsoft.com/office/drawing/2014/main" id="{16BA0F1E-63D2-5C99-0AEF-AE9D06F3E65E}"/>
              </a:ext>
            </a:extLst>
          </p:cNvPr>
          <p:cNvPicPr>
            <a:picLocks noChangeAspect="1"/>
          </p:cNvPicPr>
          <p:nvPr/>
        </p:nvPicPr>
        <p:blipFill>
          <a:blip r:embed="rId2"/>
          <a:stretch>
            <a:fillRect/>
          </a:stretch>
        </p:blipFill>
        <p:spPr>
          <a:xfrm>
            <a:off x="1" y="-396"/>
            <a:ext cx="1458484" cy="690861"/>
          </a:xfrm>
          <a:prstGeom prst="rect">
            <a:avLst/>
          </a:prstGeom>
        </p:spPr>
      </p:pic>
      <p:sp>
        <p:nvSpPr>
          <p:cNvPr id="3" name="TextBox 2">
            <a:extLst>
              <a:ext uri="{FF2B5EF4-FFF2-40B4-BE49-F238E27FC236}">
                <a16:creationId xmlns:a16="http://schemas.microsoft.com/office/drawing/2014/main" id="{2CD0C162-AAFF-57D0-C6FC-922499511FB9}"/>
              </a:ext>
            </a:extLst>
          </p:cNvPr>
          <p:cNvSpPr txBox="1"/>
          <p:nvPr/>
        </p:nvSpPr>
        <p:spPr>
          <a:xfrm>
            <a:off x="994611" y="2009408"/>
            <a:ext cx="9224210" cy="1754326"/>
          </a:xfrm>
          <a:prstGeom prst="rect">
            <a:avLst/>
          </a:prstGeom>
          <a:noFill/>
        </p:spPr>
        <p:txBody>
          <a:bodyPr wrap="square" rtlCol="0">
            <a:spAutoFit/>
          </a:bodyPr>
          <a:lstStyle/>
          <a:p>
            <a:pPr algn="just"/>
            <a:r>
              <a:rPr lang="en-IN" b="1" dirty="0"/>
              <a:t xml:space="preserve">Feasibility: the system runs on a standard laptop using Python 3, SQLite, pandas, Streamlit and Plotly, all open source. Traffic is generated locally, so no data-sharing approval is required, and the full pipeline completes in 1.2 seconds over 5,000 records.</a:t>
            </a:r>
          </a:p>
          <a:p>
            <a:pPr algn="just"/>
            <a:r>
              <a:rPr lang="en-IN" b="1" dirty="0"/>
              <a:t xml:space="preserve"/>
            </a:r>
          </a:p>
          <a:p>
            <a:pPr algn="just"/>
            <a:r>
              <a:rPr lang="en-IN" b="1" dirty="0"/>
              <a:t xml:space="preserve">Project plan:</a:t>
            </a:r>
          </a:p>
          <a:p>
            <a:pPr algn="just"/>
            <a:r>
              <a:rPr lang="en-IN" b="1" dirty="0"/>
              <a:t xml:space="preserve">Phase 1 - Literature survey and problem definition</a:t>
            </a:r>
          </a:p>
          <a:p>
            <a:pPr algn="just"/>
            <a:r>
              <a:rPr lang="en-IN" b="1" dirty="0"/>
              <a:t xml:space="preserve">Phase 2 - Dataset design and ETL pipeline</a:t>
            </a:r>
          </a:p>
          <a:p>
            <a:pPr algn="just"/>
            <a:r>
              <a:rPr lang="en-IN" b="1" dirty="0"/>
              <a:t xml:space="preserve">Phase 3 - Detection rules and threshold calibration</a:t>
            </a:r>
          </a:p>
          <a:p>
            <a:pPr algn="just"/>
            <a:r>
              <a:rPr lang="en-IN" b="1" dirty="0"/>
              <a:t xml:space="preserve">Phase 4 - Dashboard and visualisation</a:t>
            </a:r>
          </a:p>
          <a:p>
            <a:pPr algn="just"/>
            <a:r>
              <a:rPr lang="en-IN" b="1" dirty="0"/>
              <a:t xml:space="preserve">Phase 5 - Verification of determinism, idempotency and reproducibility</a:t>
            </a:r>
          </a:p>
          <a:p>
            <a:pPr algn="just"/>
            <a:r>
              <a:rPr lang="en-IN" b="1" dirty="0"/>
              <a:t xml:space="preserve">Phase 6 - Evaluation on public benchmark traffic and final report</a:t>
            </a:r>
          </a:p>
        </p:txBody>
      </p:sp>
      <p:sp>
        <p:nvSpPr>
          <p:cNvPr id="11" name="Footer Placeholder 2">
            <a:extLst>
              <a:ext uri="{FF2B5EF4-FFF2-40B4-BE49-F238E27FC236}">
                <a16:creationId xmlns:a16="http://schemas.microsoft.com/office/drawing/2014/main" id="{85505740-31D0-4B8F-B93F-9E8CA50A42B9}"/>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893631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522124-E786-BCBD-47AD-A1A7AA1DA56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12C2661-5AB9-3306-326F-7FD2F83DB2B0}"/>
              </a:ext>
            </a:extLst>
          </p:cNvPr>
          <p:cNvSpPr>
            <a:spLocks noGrp="1"/>
          </p:cNvSpPr>
          <p:nvPr>
            <p:ph type="title"/>
          </p:nvPr>
        </p:nvSpPr>
        <p:spPr>
          <a:xfrm>
            <a:off x="1180618" y="365125"/>
            <a:ext cx="10173182" cy="1128009"/>
          </a:xfrm>
        </p:spPr>
        <p:txBody>
          <a:bodyPr>
            <a:normAutofit/>
          </a:bodyPr>
          <a:lstStyle/>
          <a:p>
            <a:pPr algn="ctr"/>
            <a:r>
              <a:rPr lang="en-IN" b="1" dirty="0">
                <a:latin typeface="Times New Roman" panose="02020603050405020304" pitchFamily="18" charset="0"/>
                <a:cs typeface="Times New Roman" panose="02020603050405020304" pitchFamily="18" charset="0"/>
              </a:rPr>
              <a:t xml:space="preserve">Research Paper Draft Preparation</a:t>
            </a:r>
          </a:p>
        </p:txBody>
      </p:sp>
      <p:sp>
        <p:nvSpPr>
          <p:cNvPr id="9" name="Content Placeholder 8">
            <a:extLst>
              <a:ext uri="{FF2B5EF4-FFF2-40B4-BE49-F238E27FC236}">
                <a16:creationId xmlns:a16="http://schemas.microsoft.com/office/drawing/2014/main" id="{B7B926EC-3DBE-8D00-A4DE-40000C0B9746}"/>
              </a:ext>
            </a:extLst>
          </p:cNvPr>
          <p:cNvSpPr>
            <a:spLocks noGrp="1"/>
          </p:cNvSpPr>
          <p:nvPr>
            <p:ph idx="1"/>
          </p:nvPr>
        </p:nvSpPr>
        <p:spPr>
          <a:xfrm>
            <a:off x="838200" y="1260158"/>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Working title</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Reproducible Rule-Based Anomaly Detection over Network Connection Logs</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Structure drafted</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Introduction; related work from the 17 surveyed papers; methodology; experimental setup; results; threats to validity; conclusion.</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Status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Literature survey complete and themed. Methodology and results sections drafted from the verification data. The reproducibility argument is supported by four independent published findings that detection results fail to reproduce across runs, hosts and dataset versions.</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Next steps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Replay the detectors against a public benchmark, CICIDS2017 or NF-UNSW-NB15, so precision and recall can be reported against published baselines, then select a target venue.</a:t>
            </a:r>
          </a:p>
        </p:txBody>
      </p:sp>
      <p:sp>
        <p:nvSpPr>
          <p:cNvPr id="5" name="Date Placeholder 4">
            <a:extLst>
              <a:ext uri="{FF2B5EF4-FFF2-40B4-BE49-F238E27FC236}">
                <a16:creationId xmlns:a16="http://schemas.microsoft.com/office/drawing/2014/main" id="{7B8C7DBE-8B58-804A-6C39-91193A7ECF4F}"/>
              </a:ext>
            </a:extLst>
          </p:cNvPr>
          <p:cNvSpPr>
            <a:spLocks noGrp="1"/>
          </p:cNvSpPr>
          <p:nvPr>
            <p:ph type="dt" sz="half" idx="10"/>
          </p:nvPr>
        </p:nvSpPr>
        <p:spPr/>
        <p:txBody>
          <a:bodyPr/>
          <a:lstStyle/>
          <a:p>
            <a:fld id="{196CB346-A29B-614A-90B7-3F58220E4132}" type="datetime1">
              <a:rPr lang="en-IN" smtClean="0"/>
              <a:t>20-08-2026</a:t>
            </a:fld>
            <a:endParaRPr lang="en-US"/>
          </a:p>
        </p:txBody>
      </p:sp>
      <p:sp>
        <p:nvSpPr>
          <p:cNvPr id="7" name="Slide Number Placeholder 6">
            <a:extLst>
              <a:ext uri="{FF2B5EF4-FFF2-40B4-BE49-F238E27FC236}">
                <a16:creationId xmlns:a16="http://schemas.microsoft.com/office/drawing/2014/main" id="{7B53D3A6-F1ED-0DAD-DE43-F3A755A78A23}"/>
              </a:ext>
            </a:extLst>
          </p:cNvPr>
          <p:cNvSpPr>
            <a:spLocks noGrp="1"/>
          </p:cNvSpPr>
          <p:nvPr>
            <p:ph type="sldNum" sz="quarter" idx="12"/>
          </p:nvPr>
        </p:nvSpPr>
        <p:spPr/>
        <p:txBody>
          <a:bodyPr/>
          <a:lstStyle/>
          <a:p>
            <a:fld id="{B961B71F-4B40-8942-BB88-E0F5C0B46E10}" type="slidenum">
              <a:rPr lang="en-US" smtClean="0"/>
              <a:t>3</a:t>
            </a:fld>
            <a:endParaRPr lang="en-US"/>
          </a:p>
        </p:txBody>
      </p:sp>
      <p:pic>
        <p:nvPicPr>
          <p:cNvPr id="2" name="Picture 1">
            <a:extLst>
              <a:ext uri="{FF2B5EF4-FFF2-40B4-BE49-F238E27FC236}">
                <a16:creationId xmlns:a16="http://schemas.microsoft.com/office/drawing/2014/main" id="{ABEFA699-0799-F3B0-1E5B-DEAFB30C59B0}"/>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3C34A4E9-B1D7-4F59-982A-7518E00546D4}"/>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0115990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B93719B-A971-677D-DB3E-3F30ECAA34A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7709CC97-A85F-7FE9-127B-D9A3D4338C74}"/>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Conclusion</a:t>
            </a:r>
          </a:p>
        </p:txBody>
      </p:sp>
      <p:sp>
        <p:nvSpPr>
          <p:cNvPr id="9" name="Content Placeholder 8">
            <a:extLst>
              <a:ext uri="{FF2B5EF4-FFF2-40B4-BE49-F238E27FC236}">
                <a16:creationId xmlns:a16="http://schemas.microsoft.com/office/drawing/2014/main" id="{0E914A49-19F6-51A2-7E86-293A5277485B}"/>
              </a:ext>
            </a:extLst>
          </p:cNvPr>
          <p:cNvSpPr>
            <a:spLocks noGrp="1"/>
          </p:cNvSpPr>
          <p:nvPr>
            <p:ph idx="1"/>
          </p:nvPr>
        </p:nvSpPr>
        <p:spPr>
          <a:xfrm>
            <a:off x="838200" y="1250731"/>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Summary</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A complete pipeline from raw connection log to explained alert, running end to end in 1.2 seconds over 5,000 records.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Six detectors covering port scanning, denial of service, brute force, data exfiltration, dangerous ports and hostile address ranges; 268 records flagged, a detection rate of 5.4%.</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Detection depends on the data alone, giving identical results across runs, hosts and timezones.</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Next steps for the following evaluation phase</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Replay the detectors against captured traffic and a public benchmark dataset.</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Baseline each host and alert on drift, replacing fixed thresholds.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Add an unsupervised model as a second opinion alongside the rules.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Move to streaming ingest for live alerting.</a:t>
            </a:r>
          </a:p>
        </p:txBody>
      </p:sp>
      <p:sp>
        <p:nvSpPr>
          <p:cNvPr id="5" name="Date Placeholder 4">
            <a:extLst>
              <a:ext uri="{FF2B5EF4-FFF2-40B4-BE49-F238E27FC236}">
                <a16:creationId xmlns:a16="http://schemas.microsoft.com/office/drawing/2014/main" id="{68B060C3-9089-9B01-F1D8-C97A09A9736A}"/>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134082E4-0E3A-87DB-D567-ED1D0DBED5DA}"/>
              </a:ext>
            </a:extLst>
          </p:cNvPr>
          <p:cNvSpPr>
            <a:spLocks noGrp="1"/>
          </p:cNvSpPr>
          <p:nvPr>
            <p:ph type="sldNum" sz="quarter" idx="12"/>
          </p:nvPr>
        </p:nvSpPr>
        <p:spPr/>
        <p:txBody>
          <a:bodyPr/>
          <a:lstStyle/>
          <a:p>
            <a:fld id="{B961B71F-4B40-8942-BB88-E0F5C0B46E10}" type="slidenum">
              <a:rPr lang="en-US" smtClean="0"/>
              <a:t>10</a:t>
            </a:fld>
            <a:endParaRPr lang="en-US"/>
          </a:p>
        </p:txBody>
      </p:sp>
      <p:pic>
        <p:nvPicPr>
          <p:cNvPr id="2" name="Picture 1">
            <a:extLst>
              <a:ext uri="{FF2B5EF4-FFF2-40B4-BE49-F238E27FC236}">
                <a16:creationId xmlns:a16="http://schemas.microsoft.com/office/drawing/2014/main" id="{1564F053-0075-BD19-F8FF-9AAA1B64705D}"/>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2D31941C-C503-4469-8755-454FE6062E3B}"/>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7164636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8D4C0B0-C70A-1972-492E-60B0E754146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1E10373E-14B1-432C-6627-5102E701E540}"/>
              </a:ext>
            </a:extLst>
          </p:cNvPr>
          <p:cNvSpPr>
            <a:spLocks noGrp="1"/>
          </p:cNvSpPr>
          <p:nvPr>
            <p:ph type="title"/>
          </p:nvPr>
        </p:nvSpPr>
        <p:spPr>
          <a:xfrm>
            <a:off x="1180618" y="365125"/>
            <a:ext cx="10173182" cy="1128009"/>
          </a:xfrm>
        </p:spPr>
        <p:txBody>
          <a:bodyPr/>
          <a:lstStyle/>
          <a:p>
            <a:pPr algn="ctr"/>
            <a:r>
              <a:rPr lang="en-IN" b="1" dirty="0">
                <a:latin typeface="Times New Roman" panose="02020603050405020304" pitchFamily="18" charset="0"/>
                <a:cs typeface="Times New Roman" panose="02020603050405020304" pitchFamily="18" charset="0"/>
              </a:rPr>
              <a:t>References</a:t>
            </a:r>
          </a:p>
        </p:txBody>
      </p:sp>
      <p:sp>
        <p:nvSpPr>
          <p:cNvPr id="9" name="Content Placeholder 8">
            <a:extLst>
              <a:ext uri="{FF2B5EF4-FFF2-40B4-BE49-F238E27FC236}">
                <a16:creationId xmlns:a16="http://schemas.microsoft.com/office/drawing/2014/main" id="{820347CC-6603-A42B-AFAE-07AE7DD492A9}"/>
              </a:ext>
            </a:extLst>
          </p:cNvPr>
          <p:cNvSpPr>
            <a:spLocks noGrp="1"/>
          </p:cNvSpPr>
          <p:nvPr>
            <p:ph idx="1"/>
          </p:nvPr>
        </p:nvSpPr>
        <p:spPr>
          <a:xfrm>
            <a:off x="838200" y="1250731"/>
            <a:ext cx="10515600" cy="5002923"/>
          </a:xfrm>
        </p:spPr>
        <p:txBody>
          <a:bodyPr>
            <a:normAutofit/>
          </a:bodyPr>
          <a:lstStyle/>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Papers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The seventeen papers on the Literature Survey slides, in APA format.</a:t>
            </a:r>
          </a:p>
          <a:p>
            <a:pPr marL="0" indent="0" eaLnBrk="0" fontAlgn="base" hangingPunct="0">
              <a:lnSpc>
                <a:spcPct val="100000"/>
              </a:lnSpc>
              <a:spcBef>
                <a:spcPct val="0"/>
              </a:spcBef>
              <a:spcAft>
                <a:spcPct val="0"/>
              </a:spcAft>
              <a:buNone/>
            </a:pPr>
            <a:r>
              <a:rPr lang="en-US" altLang="en-US" sz="2000" dirty="0" b="1">
                <a:latin typeface="Times New Roman" panose="02020603050405020304" pitchFamily="18" charset="0"/>
                <a:cs typeface="Times New Roman" panose="02020603050405020304" pitchFamily="18" charset="0"/>
              </a:rPr>
              <a:t xml:space="preserve">Tools and documentation</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Python Software Foundation. Python 3 documentation. https://docs.python.org/3/</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SQLite Consortium. SQLite documentation. https://www.sqlite.org/docs.html</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The pandas development team. pandas documentation. https://pandas.pydata.org/docs/</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Streamlit Inc. Streamlit documentation. https://docs.streamlit.io/</a:t>
            </a:r>
          </a:p>
          <a:p>
            <a:pPr marL="0" indent="0" eaLnBrk="0" fontAlgn="base" hangingPunct="0" lvl="1">
              <a:lnSpc>
                <a:spcPct val="100000"/>
              </a:lnSpc>
              <a:spcBef>
                <a:spcPct val="0"/>
              </a:spcBef>
              <a:spcAft>
                <a:spcPct val="0"/>
              </a:spcAft>
              <a:buNone/>
            </a:pPr>
            <a:r>
              <a:rPr lang="en-US" altLang="en-US" sz="2000" dirty="0">
                <a:latin typeface="Times New Roman" panose="02020603050405020304" pitchFamily="18" charset="0"/>
                <a:cs typeface="Times New Roman" panose="02020603050405020304" pitchFamily="18" charset="0"/>
              </a:rPr>
              <a:t xml:space="preserve">Plotly. Plotly Open Source Graphing Library for Python. https://plotly.com/python/</a:t>
            </a:r>
          </a:p>
        </p:txBody>
      </p:sp>
      <p:sp>
        <p:nvSpPr>
          <p:cNvPr id="5" name="Date Placeholder 4">
            <a:extLst>
              <a:ext uri="{FF2B5EF4-FFF2-40B4-BE49-F238E27FC236}">
                <a16:creationId xmlns:a16="http://schemas.microsoft.com/office/drawing/2014/main" id="{69CF12D2-F1DB-33DA-F2D4-36035A1EBE69}"/>
              </a:ext>
            </a:extLst>
          </p:cNvPr>
          <p:cNvSpPr>
            <a:spLocks noGrp="1"/>
          </p:cNvSpPr>
          <p:nvPr>
            <p:ph type="dt" sz="half" idx="10"/>
          </p:nvPr>
        </p:nvSpPr>
        <p:spPr/>
        <p:txBody>
          <a:bodyPr/>
          <a:lstStyle/>
          <a:p>
            <a:fld id="{196CB346-A29B-614A-90B7-3F58220E4132}" type="datetime1">
              <a:rPr lang="en-IN" smtClean="0"/>
              <a:t>20-08-2026</a:t>
            </a:fld>
            <a:endParaRPr lang="en-US" dirty="0"/>
          </a:p>
        </p:txBody>
      </p:sp>
      <p:sp>
        <p:nvSpPr>
          <p:cNvPr id="7" name="Slide Number Placeholder 6">
            <a:extLst>
              <a:ext uri="{FF2B5EF4-FFF2-40B4-BE49-F238E27FC236}">
                <a16:creationId xmlns:a16="http://schemas.microsoft.com/office/drawing/2014/main" id="{68493559-19B2-50D7-BD0E-0D82C2ADBB1E}"/>
              </a:ext>
            </a:extLst>
          </p:cNvPr>
          <p:cNvSpPr>
            <a:spLocks noGrp="1"/>
          </p:cNvSpPr>
          <p:nvPr>
            <p:ph type="sldNum" sz="quarter" idx="12"/>
          </p:nvPr>
        </p:nvSpPr>
        <p:spPr/>
        <p:txBody>
          <a:bodyPr/>
          <a:lstStyle/>
          <a:p>
            <a:fld id="{B961B71F-4B40-8942-BB88-E0F5C0B46E10}" type="slidenum">
              <a:rPr lang="en-US" smtClean="0"/>
              <a:t>11</a:t>
            </a:fld>
            <a:endParaRPr lang="en-US"/>
          </a:p>
        </p:txBody>
      </p:sp>
      <p:pic>
        <p:nvPicPr>
          <p:cNvPr id="2" name="Picture 1">
            <a:extLst>
              <a:ext uri="{FF2B5EF4-FFF2-40B4-BE49-F238E27FC236}">
                <a16:creationId xmlns:a16="http://schemas.microsoft.com/office/drawing/2014/main" id="{D419C462-DC64-15A1-C950-8DE0A0202034}"/>
              </a:ext>
            </a:extLst>
          </p:cNvPr>
          <p:cNvPicPr>
            <a:picLocks noChangeAspect="1"/>
          </p:cNvPicPr>
          <p:nvPr/>
        </p:nvPicPr>
        <p:blipFill>
          <a:blip r:embed="rId2"/>
          <a:stretch>
            <a:fillRect/>
          </a:stretch>
        </p:blipFill>
        <p:spPr>
          <a:xfrm>
            <a:off x="1" y="-396"/>
            <a:ext cx="1458484" cy="690861"/>
          </a:xfrm>
          <a:prstGeom prst="rect">
            <a:avLst/>
          </a:prstGeom>
        </p:spPr>
      </p:pic>
      <p:sp>
        <p:nvSpPr>
          <p:cNvPr id="11" name="Footer Placeholder 2">
            <a:extLst>
              <a:ext uri="{FF2B5EF4-FFF2-40B4-BE49-F238E27FC236}">
                <a16:creationId xmlns:a16="http://schemas.microsoft.com/office/drawing/2014/main" id="{2D22C802-FAC0-4996-9438-F4455D720586}"/>
              </a:ext>
            </a:extLst>
          </p:cNvPr>
          <p:cNvSpPr>
            <a:spLocks noGrp="1"/>
          </p:cNvSpPr>
          <p:nvPr>
            <p:ph type="ftr" sz="quarter" idx="11"/>
          </p:nvPr>
        </p:nvSpPr>
        <p:spPr>
          <a:xfrm>
            <a:off x="4038600" y="6356350"/>
            <a:ext cx="4114800" cy="365125"/>
          </a:xfrm>
        </p:spPr>
        <p:txBody>
          <a:bodyPr/>
          <a:lstStyle/>
          <a:p>
            <a:r>
              <a:rPr lang="en-US" dirty="0"/>
              <a:t>PRC-I    </a:t>
            </a:r>
          </a:p>
        </p:txBody>
      </p:sp>
    </p:spTree>
    <p:extLst>
      <p:ext uri="{BB962C8B-B14F-4D97-AF65-F5344CB8AC3E}">
        <p14:creationId xmlns:p14="http://schemas.microsoft.com/office/powerpoint/2010/main" val="21169825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838200" y="740780"/>
            <a:ext cx="10515600" cy="5436183"/>
          </a:xfrm>
        </p:spPr>
        <p:txBody>
          <a:bodyPr>
            <a:normAutofit/>
          </a:bodyPr>
          <a:lstStyle/>
          <a:p>
            <a:pPr marL="0" indent="0">
              <a:buNone/>
            </a:pPr>
            <a:endParaRPr lang="en-IN" dirty="0"/>
          </a:p>
          <a:p>
            <a:pPr marL="0" indent="0" algn="ctr">
              <a:buNone/>
            </a:pPr>
            <a:endParaRPr lang="en-IN" sz="4400" dirty="0"/>
          </a:p>
          <a:p>
            <a:pPr marL="0" indent="0" algn="ctr">
              <a:buNone/>
            </a:pPr>
            <a:endParaRPr lang="en-IN" sz="4400" dirty="0"/>
          </a:p>
          <a:p>
            <a:pPr marL="0" indent="0" algn="ctr">
              <a:buNone/>
            </a:pPr>
            <a:r>
              <a:rPr lang="en-IN" sz="4400" dirty="0"/>
              <a:t>THANK YOU</a:t>
            </a:r>
          </a:p>
        </p:txBody>
      </p:sp>
      <p:sp>
        <p:nvSpPr>
          <p:cNvPr id="5" name="Date Placeholder 4"/>
          <p:cNvSpPr>
            <a:spLocks noGrp="1"/>
          </p:cNvSpPr>
          <p:nvPr>
            <p:ph type="dt" sz="half" idx="10"/>
          </p:nvPr>
        </p:nvSpPr>
        <p:spPr/>
        <p:txBody>
          <a:bodyPr/>
          <a:lstStyle/>
          <a:p>
            <a:fld id="{D7BE9514-8A25-AD4E-B103-05AD99471A79}" type="datetime1">
              <a:rPr lang="en-IN" smtClean="0"/>
              <a:t>20-08-2026</a:t>
            </a:fld>
            <a:endParaRPr lang="en-US"/>
          </a:p>
        </p:txBody>
      </p:sp>
      <p:sp>
        <p:nvSpPr>
          <p:cNvPr id="7" name="Slide Number Placeholder 6"/>
          <p:cNvSpPr>
            <a:spLocks noGrp="1"/>
          </p:cNvSpPr>
          <p:nvPr>
            <p:ph type="sldNum" sz="quarter" idx="12"/>
          </p:nvPr>
        </p:nvSpPr>
        <p:spPr/>
        <p:txBody>
          <a:bodyPr/>
          <a:lstStyle/>
          <a:p>
            <a:fld id="{B961B71F-4B40-8942-BB88-E0F5C0B46E10}" type="slidenum">
              <a:rPr lang="en-US" smtClean="0"/>
              <a:t>12</a:t>
            </a:fld>
            <a:endParaRPr lang="en-US"/>
          </a:p>
        </p:txBody>
      </p:sp>
      <p:pic>
        <p:nvPicPr>
          <p:cNvPr id="2" name="Picture 1"/>
          <p:cNvPicPr>
            <a:picLocks noChangeAspect="1"/>
          </p:cNvPicPr>
          <p:nvPr/>
        </p:nvPicPr>
        <p:blipFill>
          <a:blip r:embed="rId2"/>
          <a:stretch>
            <a:fillRect/>
          </a:stretch>
        </p:blipFill>
        <p:spPr>
          <a:xfrm>
            <a:off x="1" y="-396"/>
            <a:ext cx="1458484" cy="690861"/>
          </a:xfrm>
          <a:prstGeom prst="rect">
            <a:avLst/>
          </a:prstGeom>
        </p:spPr>
      </p:pic>
      <p:sp>
        <p:nvSpPr>
          <p:cNvPr id="8" name="Footer Placeholder 2">
            <a:extLst>
              <a:ext uri="{FF2B5EF4-FFF2-40B4-BE49-F238E27FC236}">
                <a16:creationId xmlns:a16="http://schemas.microsoft.com/office/drawing/2014/main" id="{410A2BD5-B048-435C-9BAE-2FCD927007A1}"/>
              </a:ext>
            </a:extLst>
          </p:cNvPr>
          <p:cNvSpPr>
            <a:spLocks noGrp="1"/>
          </p:cNvSpPr>
          <p:nvPr>
            <p:ph type="ftr" sz="quarter" idx="11"/>
          </p:nvPr>
        </p:nvSpPr>
        <p:spPr>
          <a:xfrm>
            <a:off x="4038600" y="6356350"/>
            <a:ext cx="4114800" cy="365125"/>
          </a:xfrm>
        </p:spPr>
        <p:txBody>
          <a:bodyPr/>
          <a:lstStyle/>
          <a:p>
            <a:r>
              <a:rPr lang="en-US" dirty="0"/>
              <a:t>PRC-I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167</TotalTime>
  <Words>474</Words>
  <Application>Microsoft Office PowerPoint</Application>
  <PresentationFormat>Widescreen</PresentationFormat>
  <Paragraphs>128</Paragraphs>
  <Slides>12</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12</vt:i4>
      </vt:variant>
    </vt:vector>
  </HeadingPairs>
  <TitlesOfParts>
    <vt:vector size="18" baseType="lpstr">
      <vt:lpstr>Arial</vt:lpstr>
      <vt:lpstr>Calibri</vt:lpstr>
      <vt:lpstr>Calibri Light</vt:lpstr>
      <vt:lpstr>Times New Roman</vt:lpstr>
      <vt:lpstr>Office Theme</vt:lpstr>
      <vt:lpstr>Custom Design</vt:lpstr>
      <vt:lpstr>ENGINEERING CAPSTONE PROJECT – 1/INDUSTRIAL INTERNSHIP/ INDUSTRIAL INTERNSHIP PHASE-I Project Review-1  Project Title</vt:lpstr>
      <vt:lpstr>OUTLINE</vt:lpstr>
      <vt:lpstr>Introduction</vt:lpstr>
      <vt:lpstr>Problem Statement</vt:lpstr>
      <vt:lpstr>Objectives </vt:lpstr>
      <vt:lpstr>Literature Survey</vt:lpstr>
      <vt:lpstr>Research Gap Identification</vt:lpstr>
      <vt:lpstr>Innovation, Creativity, and Novelty</vt:lpstr>
      <vt:lpstr>Feasibility and Project Plan</vt:lpstr>
      <vt:lpstr>Conclusion</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SHAHANA BANO</dc:creator>
  <cp:lastModifiedBy>Welcome</cp:lastModifiedBy>
  <cp:revision>194</cp:revision>
  <cp:lastPrinted>2025-06-24T13:51:00Z</cp:lastPrinted>
  <dcterms:created xsi:type="dcterms:W3CDTF">2022-05-20T10:20:00Z</dcterms:created>
  <dcterms:modified xsi:type="dcterms:W3CDTF">2026-08-20T10:17:13Z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8501A877F9FA4B8DAC5FC0ABD71A7E4E_12</vt:lpwstr>
  </property>
  <property fmtid="{D5CDD505-2E9C-101B-9397-08002B2CF9AE}" pid="3" name="KSOProductBuildVer">
    <vt:lpwstr>1033-12.2.0.23196</vt:lpwstr>
  </property>
</Properties>
</file>