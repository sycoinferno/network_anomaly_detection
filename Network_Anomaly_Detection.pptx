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761"/>
                </a:solidFill>
                <a:latin typeface="Cambria"/>
              </a:defRPr>
            </a:pPr>
            <a:r>
              <a:rPr sz="1300" b="0" i="0" u="none" strike="noStrike">
                <a:solidFill>
                  <a:srgbClr val="1E2761"/>
                </a:solidFill>
                <a:latin typeface="Cambria"/>
              </a:rPr>
              <a:t>Detections by rule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Detections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7203A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Brute force</c:v>
                  </c:pt>
                  <c:pt idx="1">
                    <c:v>Suspicious IP</c:v>
                  </c:pt>
                  <c:pt idx="2">
                    <c:v>DDoS</c:v>
                  </c:pt>
                  <c:pt idx="3">
                    <c:v>Port scan</c:v>
                  </c:pt>
                  <c:pt idx="4">
                    <c:v>Uncommon port</c:v>
                  </c:pt>
                  <c:pt idx="5">
                    <c:v>Exfiltration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79</c:v>
                </c:pt>
                <c:pt idx="1">
                  <c:v>74</c:v>
                </c:pt>
                <c:pt idx="2">
                  <c:v>61</c:v>
                </c:pt>
                <c:pt idx="3">
                  <c:v>30</c:v>
                </c:pt>
                <c:pt idx="4">
                  <c:v>13</c:v>
                </c:pt>
                <c:pt idx="5">
                  <c:v>11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7203A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7203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4E9F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788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project: network connection logs are generated faster than anyone can read them. This system ingests a week of traffic and flags the connections worth investigating.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key point for the examiner: an attack is a property of a group of connections in a time window, not of any single record. That is what makes rule-based detection over windows the right tool.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left to right. Each stage is a separate module in src/: log_generator.py, database.py, anomaly_detector.py, dashboard.py. Stage three is where the contribution sits.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was a real defect found during testing. The first generator scattered attack records uniformly across seven days, so four of the six rules never fired. Clustering them into campaigns fixed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Rules are evaluated in order and the first match wins, so every flagged record has exactly one classification. Thresholds are parameters on each method, not constants buried in SQL.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Expect a question here. The fix has two halves: store timestamps in SQLite's own format so string comparison is valid, and pass the record's own timestamp as the window anchor instead of calling datetime('now').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six rules fire. Severity splits 140 high, 104 medium, 13 low, 11 critical. Across three independent generate-and-detect runs the total was 267, 267 and 268.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Demonstrate live if possible: streamlit run src/dashboard.py. The dashboard reads the same SQLite database the detector writes, so nothing is recomputed for display.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four are the difference between a script that produces a number and a detector whose number means something. Each was checked, not assumed.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asked why not machine learning: the dataset has labels, so supervised learning is possible, but an unexplainable flag is operationally weak. Rules also give a baseline any model would have to beat.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guarantee, not the feature list: the number this system reports means the same thing tomorrow as it does today. Then invite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298448"/>
            <a:ext cx="5394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Network Logs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938528"/>
            <a:ext cx="5394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Anomaly Detection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724912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ETL and rule-based detection pipeline over a week of network traffic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950208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6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Year Project  ·  Computer Science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355080" y="1371600"/>
            <a:ext cx="219456" cy="219456"/>
          </a:xfrm>
          <a:prstGeom prst="ellipse">
            <a:avLst/>
          </a:prstGeom>
          <a:solidFill>
            <a:srgbClr val="26355E"/>
          </a:solidFill>
          <a:ln w="12700">
            <a:solidFill>
              <a:srgbClr val="26355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739128" y="1371600"/>
            <a:ext cx="219456" cy="219456"/>
          </a:xfrm>
          <a:prstGeom prst="ellipse">
            <a:avLst/>
          </a:prstGeom>
          <a:solidFill>
            <a:srgbClr val="26355E"/>
          </a:solidFill>
          <a:ln w="12700">
            <a:solidFill>
              <a:srgbClr val="26355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123176" y="1371600"/>
            <a:ext cx="219456" cy="219456"/>
          </a:xfrm>
          <a:prstGeom prst="ellipse">
            <a:avLst/>
          </a:prstGeom>
          <a:solidFill>
            <a:srgbClr val="26355E"/>
          </a:solidFill>
          <a:ln w="12700">
            <a:solidFill>
              <a:srgbClr val="26355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07224" y="1371600"/>
            <a:ext cx="219456" cy="219456"/>
          </a:xfrm>
          <a:prstGeom prst="ellipse">
            <a:avLst/>
          </a:prstGeom>
          <a:solidFill>
            <a:srgbClr val="E0443E"/>
          </a:solidFill>
          <a:ln w="12700">
            <a:solidFill>
              <a:srgbClr val="E0443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891272" y="1371600"/>
            <a:ext cx="219456" cy="219456"/>
          </a:xfrm>
          <a:prstGeom prst="ellipse">
            <a:avLst/>
          </a:prstGeom>
          <a:solidFill>
            <a:srgbClr val="26355E"/>
          </a:solidFill>
          <a:ln w="12700">
            <a:solidFill>
              <a:srgbClr val="26355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75320" y="1371600"/>
            <a:ext cx="219456" cy="219456"/>
          </a:xfrm>
          <a:prstGeom prst="ellipse">
            <a:avLst/>
          </a:prstGeom>
          <a:solidFill>
            <a:srgbClr val="26355E"/>
          </a:solidFill>
          <a:ln w="12700">
            <a:solidFill>
              <a:srgbClr val="26355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355080" y="1755648"/>
            <a:ext cx="219456" cy="219456"/>
          </a:xfrm>
          <a:prstGeom prst="ellipse">
            <a:avLst/>
          </a:prstGeom>
          <a:solidFill>
            <a:srgbClr val="26355E"/>
          </a:solidFill>
          <a:ln w="12700">
            <a:solidFill>
              <a:srgbClr val="26355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39128" y="1755648"/>
            <a:ext cx="219456" cy="219456"/>
          </a:xfrm>
          <a:prstGeom prst="ellipse">
            <a:avLst/>
          </a:prstGeom>
          <a:solidFill>
            <a:srgbClr val="26355E"/>
          </a:solidFill>
          <a:ln w="12700">
            <a:solidFill>
              <a:srgbClr val="26355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123176" y="1755648"/>
            <a:ext cx="219456" cy="219456"/>
          </a:xfrm>
          <a:prstGeom prst="ellipse">
            <a:avLst/>
          </a:prstGeom>
          <a:solidFill>
            <a:srgbClr val="26355E"/>
          </a:solidFill>
          <a:ln w="12700">
            <a:solidFill>
              <a:srgbClr val="26355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507224" y="1755648"/>
            <a:ext cx="219456" cy="219456"/>
          </a:xfrm>
          <a:prstGeom prst="ellipse">
            <a:avLst/>
          </a:prstGeom>
          <a:solidFill>
            <a:srgbClr val="E0443E"/>
          </a:solidFill>
          <a:ln w="12700">
            <a:solidFill>
              <a:srgbClr val="E0443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891272" y="1755648"/>
            <a:ext cx="219456" cy="219456"/>
          </a:xfrm>
          <a:prstGeom prst="ellipse">
            <a:avLst/>
          </a:prstGeom>
          <a:solidFill>
            <a:srgbClr val="26355E"/>
          </a:solidFill>
          <a:ln w="12700">
            <a:solidFill>
              <a:srgbClr val="26355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75320" y="1755648"/>
            <a:ext cx="219456" cy="219456"/>
          </a:xfrm>
          <a:prstGeom prst="ellipse">
            <a:avLst/>
          </a:prstGeom>
          <a:solidFill>
            <a:srgbClr val="26355E"/>
          </a:solidFill>
          <a:ln w="12700">
            <a:solidFill>
              <a:srgbClr val="26355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355080" y="2139696"/>
            <a:ext cx="219456" cy="219456"/>
          </a:xfrm>
          <a:prstGeom prst="ellipse">
            <a:avLst/>
          </a:prstGeom>
          <a:solidFill>
            <a:srgbClr val="26355E"/>
          </a:solidFill>
          <a:ln w="12700">
            <a:solidFill>
              <a:srgbClr val="26355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739128" y="2139696"/>
            <a:ext cx="219456" cy="219456"/>
          </a:xfrm>
          <a:prstGeom prst="ellipse">
            <a:avLst/>
          </a:prstGeom>
          <a:solidFill>
            <a:srgbClr val="26355E"/>
          </a:solidFill>
          <a:ln w="12700">
            <a:solidFill>
              <a:srgbClr val="26355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123176" y="2139696"/>
            <a:ext cx="219456" cy="219456"/>
          </a:xfrm>
          <a:prstGeom prst="ellipse">
            <a:avLst/>
          </a:prstGeom>
          <a:solidFill>
            <a:srgbClr val="E0443E"/>
          </a:solidFill>
          <a:ln w="12700">
            <a:solidFill>
              <a:srgbClr val="E0443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507224" y="2139696"/>
            <a:ext cx="219456" cy="219456"/>
          </a:xfrm>
          <a:prstGeom prst="ellipse">
            <a:avLst/>
          </a:prstGeom>
          <a:solidFill>
            <a:srgbClr val="26355E"/>
          </a:solidFill>
          <a:ln w="12700">
            <a:solidFill>
              <a:srgbClr val="26355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891272" y="2139696"/>
            <a:ext cx="219456" cy="219456"/>
          </a:xfrm>
          <a:prstGeom prst="ellipse">
            <a:avLst/>
          </a:prstGeom>
          <a:solidFill>
            <a:srgbClr val="26355E"/>
          </a:solidFill>
          <a:ln w="12700">
            <a:solidFill>
              <a:srgbClr val="26355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275320" y="2139696"/>
            <a:ext cx="219456" cy="219456"/>
          </a:xfrm>
          <a:prstGeom prst="ellipse">
            <a:avLst/>
          </a:prstGeom>
          <a:solidFill>
            <a:srgbClr val="26355E"/>
          </a:solidFill>
          <a:ln w="12700">
            <a:solidFill>
              <a:srgbClr val="26355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55080" y="2523744"/>
            <a:ext cx="219456" cy="219456"/>
          </a:xfrm>
          <a:prstGeom prst="ellipse">
            <a:avLst/>
          </a:prstGeom>
          <a:solidFill>
            <a:srgbClr val="26355E"/>
          </a:solidFill>
          <a:ln w="12700">
            <a:solidFill>
              <a:srgbClr val="26355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739128" y="2523744"/>
            <a:ext cx="219456" cy="219456"/>
          </a:xfrm>
          <a:prstGeom prst="ellipse">
            <a:avLst/>
          </a:prstGeom>
          <a:solidFill>
            <a:srgbClr val="26355E"/>
          </a:solidFill>
          <a:ln w="12700">
            <a:solidFill>
              <a:srgbClr val="26355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123176" y="2523744"/>
            <a:ext cx="219456" cy="219456"/>
          </a:xfrm>
          <a:prstGeom prst="ellipse">
            <a:avLst/>
          </a:prstGeom>
          <a:solidFill>
            <a:srgbClr val="26355E"/>
          </a:solidFill>
          <a:ln w="12700">
            <a:solidFill>
              <a:srgbClr val="26355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507224" y="2523744"/>
            <a:ext cx="219456" cy="219456"/>
          </a:xfrm>
          <a:prstGeom prst="ellipse">
            <a:avLst/>
          </a:prstGeom>
          <a:solidFill>
            <a:srgbClr val="26355E"/>
          </a:solidFill>
          <a:ln w="12700">
            <a:solidFill>
              <a:srgbClr val="26355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891272" y="2523744"/>
            <a:ext cx="219456" cy="219456"/>
          </a:xfrm>
          <a:prstGeom prst="ellipse">
            <a:avLst/>
          </a:prstGeom>
          <a:solidFill>
            <a:srgbClr val="E0443E"/>
          </a:solidFill>
          <a:ln w="12700">
            <a:solidFill>
              <a:srgbClr val="E0443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275320" y="2523744"/>
            <a:ext cx="219456" cy="219456"/>
          </a:xfrm>
          <a:prstGeom prst="ellipse">
            <a:avLst/>
          </a:prstGeom>
          <a:solidFill>
            <a:srgbClr val="26355E"/>
          </a:solidFill>
          <a:ln w="12700">
            <a:solidFill>
              <a:srgbClr val="26355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355080" y="2907792"/>
            <a:ext cx="219456" cy="219456"/>
          </a:xfrm>
          <a:prstGeom prst="ellipse">
            <a:avLst/>
          </a:prstGeom>
          <a:solidFill>
            <a:srgbClr val="26355E"/>
          </a:solidFill>
          <a:ln w="12700">
            <a:solidFill>
              <a:srgbClr val="26355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739128" y="2907792"/>
            <a:ext cx="219456" cy="219456"/>
          </a:xfrm>
          <a:prstGeom prst="ellipse">
            <a:avLst/>
          </a:prstGeom>
          <a:solidFill>
            <a:srgbClr val="26355E"/>
          </a:solidFill>
          <a:ln w="12700">
            <a:solidFill>
              <a:srgbClr val="26355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123176" y="2907792"/>
            <a:ext cx="219456" cy="219456"/>
          </a:xfrm>
          <a:prstGeom prst="ellipse">
            <a:avLst/>
          </a:prstGeom>
          <a:solidFill>
            <a:srgbClr val="26355E"/>
          </a:solidFill>
          <a:ln w="12700">
            <a:solidFill>
              <a:srgbClr val="26355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507224" y="2907792"/>
            <a:ext cx="219456" cy="219456"/>
          </a:xfrm>
          <a:prstGeom prst="ellipse">
            <a:avLst/>
          </a:prstGeom>
          <a:solidFill>
            <a:srgbClr val="E0443E"/>
          </a:solidFill>
          <a:ln w="12700">
            <a:solidFill>
              <a:srgbClr val="E0443E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891272" y="2907792"/>
            <a:ext cx="219456" cy="219456"/>
          </a:xfrm>
          <a:prstGeom prst="ellipse">
            <a:avLst/>
          </a:prstGeom>
          <a:solidFill>
            <a:srgbClr val="26355E"/>
          </a:solidFill>
          <a:ln w="12700">
            <a:solidFill>
              <a:srgbClr val="26355E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275320" y="2907792"/>
            <a:ext cx="219456" cy="219456"/>
          </a:xfrm>
          <a:prstGeom prst="ellipse">
            <a:avLst/>
          </a:prstGeom>
          <a:solidFill>
            <a:srgbClr val="26355E"/>
          </a:solidFill>
          <a:ln w="12700">
            <a:solidFill>
              <a:srgbClr val="26355E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355080" y="3291840"/>
            <a:ext cx="219456" cy="219456"/>
          </a:xfrm>
          <a:prstGeom prst="ellipse">
            <a:avLst/>
          </a:prstGeom>
          <a:solidFill>
            <a:srgbClr val="26355E"/>
          </a:solidFill>
          <a:ln w="12700">
            <a:solidFill>
              <a:srgbClr val="26355E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739128" y="3291840"/>
            <a:ext cx="219456" cy="219456"/>
          </a:xfrm>
          <a:prstGeom prst="ellipse">
            <a:avLst/>
          </a:prstGeom>
          <a:solidFill>
            <a:srgbClr val="E0443E"/>
          </a:solidFill>
          <a:ln w="12700">
            <a:solidFill>
              <a:srgbClr val="E0443E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123176" y="3291840"/>
            <a:ext cx="219456" cy="219456"/>
          </a:xfrm>
          <a:prstGeom prst="ellipse">
            <a:avLst/>
          </a:prstGeom>
          <a:solidFill>
            <a:srgbClr val="26355E"/>
          </a:solidFill>
          <a:ln w="12700">
            <a:solidFill>
              <a:srgbClr val="26355E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507224" y="3291840"/>
            <a:ext cx="219456" cy="219456"/>
          </a:xfrm>
          <a:prstGeom prst="ellipse">
            <a:avLst/>
          </a:prstGeom>
          <a:solidFill>
            <a:srgbClr val="26355E"/>
          </a:solidFill>
          <a:ln w="12700">
            <a:solidFill>
              <a:srgbClr val="26355E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891272" y="3291840"/>
            <a:ext cx="219456" cy="219456"/>
          </a:xfrm>
          <a:prstGeom prst="ellipse">
            <a:avLst/>
          </a:prstGeom>
          <a:solidFill>
            <a:srgbClr val="26355E"/>
          </a:solidFill>
          <a:ln w="12700">
            <a:solidFill>
              <a:srgbClr val="26355E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275320" y="3291840"/>
            <a:ext cx="219456" cy="219456"/>
          </a:xfrm>
          <a:prstGeom prst="ellipse">
            <a:avLst/>
          </a:prstGeom>
          <a:solidFill>
            <a:srgbClr val="26355E"/>
          </a:solidFill>
          <a:ln w="12700">
            <a:solidFill>
              <a:srgbClr val="26355E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6355080" y="382219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of 36 connections hostile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515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6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DETECTION HAS TO BE AUTOMATED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572768"/>
            <a:ext cx="46634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450" dirty="0">
                <a:solidFill>
                  <a:srgbClr val="17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connection a network makes leaves a log line: who talked to whom, on which port, for how long, and how many bytes moved.</a:t>
            </a:r>
            <a:endParaRPr lang="en-US" sz="1450" dirty="0"/>
          </a:p>
          <a:p>
            <a:pPr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450" dirty="0">
                <a:solidFill>
                  <a:srgbClr val="17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intrusion is visible in those lines — but only as a pattern across many of them. A single connection to port 22 is routine. Forty of them in four minutes is an attack.</a:t>
            </a:r>
            <a:endParaRPr lang="en-US" sz="14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7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a week of logs by hand is not feasible, and the pattern is invisible line by line in any case.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40680" y="1572768"/>
            <a:ext cx="3246120" cy="1261872"/>
          </a:xfrm>
          <a:prstGeom prst="roundRect">
            <a:avLst>
              <a:gd name="adj" fmla="val 5797"/>
            </a:avLst>
          </a:prstGeom>
          <a:solidFill>
            <a:srgbClr val="EEF3FC"/>
          </a:solidFill>
          <a:ln w="12700">
            <a:solidFill>
              <a:srgbClr val="EEF3FC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4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5669280" y="1691640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5,000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5669280" y="2359152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7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 records across seven days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40680" y="3054096"/>
            <a:ext cx="3246120" cy="1261872"/>
          </a:xfrm>
          <a:prstGeom prst="roundRect">
            <a:avLst>
              <a:gd name="adj" fmla="val 5797"/>
            </a:avLst>
          </a:prstGeom>
          <a:solidFill>
            <a:srgbClr val="FBE9E8"/>
          </a:solidFill>
          <a:ln w="12700">
            <a:solidFill>
              <a:srgbClr val="FBE9E8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4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5669280" y="3172968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04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268</a:t>
            </a:r>
            <a:endParaRPr lang="en-US" sz="4400" dirty="0"/>
          </a:p>
        </p:txBody>
      </p:sp>
      <p:sp>
        <p:nvSpPr>
          <p:cNvPr id="10" name="Text 8"/>
          <p:cNvSpPr txBox="1"/>
          <p:nvPr/>
        </p:nvSpPr>
        <p:spPr>
          <a:xfrm>
            <a:off x="5669280" y="384048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7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flagged for investigation, 5.4%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515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6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STAGES, ONE DIRECTION OF FLOW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1828800" cy="2514600"/>
          </a:xfrm>
          <a:prstGeom prst="roundRect">
            <a:avLst>
              <a:gd name="adj" fmla="val 4000"/>
            </a:avLst>
          </a:prstGeom>
          <a:solidFill>
            <a:srgbClr val="EEF3FC"/>
          </a:solidFill>
          <a:ln w="12700">
            <a:solidFill>
              <a:srgbClr val="EEF3FC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58368" y="1892808"/>
            <a:ext cx="420624" cy="420624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58368" y="18928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2432304"/>
            <a:ext cx="14264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Generate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658368" y="2779776"/>
            <a:ext cx="142646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7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5,000 synthetic records over seven days, mixing normal traffic with simulated attacks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560320" y="1691640"/>
            <a:ext cx="1828800" cy="2514600"/>
          </a:xfrm>
          <a:prstGeom prst="roundRect">
            <a:avLst>
              <a:gd name="adj" fmla="val 4000"/>
            </a:avLst>
          </a:prstGeom>
          <a:solidFill>
            <a:srgbClr val="EEF3FC"/>
          </a:solidFill>
          <a:ln w="12700">
            <a:solidFill>
              <a:srgbClr val="EEF3FC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61488" y="1892808"/>
            <a:ext cx="420624" cy="420624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761488" y="18928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2761488" y="2432304"/>
            <a:ext cx="14264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Load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2761488" y="2779776"/>
            <a:ext cx="142646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7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Timestamps normalised, records inserted into SQLite, indexes built on time, source and destination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663440" y="1691640"/>
            <a:ext cx="1828800" cy="2514600"/>
          </a:xfrm>
          <a:prstGeom prst="roundRect">
            <a:avLst>
              <a:gd name="adj" fmla="val 4000"/>
            </a:avLst>
          </a:prstGeom>
          <a:solidFill>
            <a:srgbClr val="FBE9E8"/>
          </a:solidFill>
          <a:ln w="12700">
            <a:solidFill>
              <a:srgbClr val="FBE9E8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4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864608" y="1892808"/>
            <a:ext cx="420624" cy="420624"/>
          </a:xfrm>
          <a:prstGeom prst="ellipse">
            <a:avLst/>
          </a:prstGeom>
          <a:solidFill>
            <a:srgbClr val="E0443E"/>
          </a:solidFill>
          <a:ln w="12700">
            <a:solidFill>
              <a:srgbClr val="E0443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864608" y="18928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4864608" y="2432304"/>
            <a:ext cx="14264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04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Detect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4864608" y="2779776"/>
            <a:ext cx="142646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7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rules evaluate each record against the traffic preceding it; matches are written with type and severity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766560" y="1691640"/>
            <a:ext cx="1828800" cy="2514600"/>
          </a:xfrm>
          <a:prstGeom prst="roundRect">
            <a:avLst>
              <a:gd name="adj" fmla="val 4000"/>
            </a:avLst>
          </a:prstGeom>
          <a:solidFill>
            <a:srgbClr val="EEF3FC"/>
          </a:solidFill>
          <a:ln w="12700">
            <a:solidFill>
              <a:srgbClr val="EEF3FC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4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967728" y="1892808"/>
            <a:ext cx="420624" cy="420624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967728" y="18928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967728" y="2432304"/>
            <a:ext cx="14264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Display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6967728" y="2779776"/>
            <a:ext cx="142646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7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dashboard with metrics, filters, traffic analysis and a threat heatmap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Design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515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6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ATTACKS ARE EMITTED AS BURSTS, NOT SCATTERED SINGLES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609344"/>
            <a:ext cx="2560320" cy="1207008"/>
          </a:xfrm>
          <a:prstGeom prst="roundRect">
            <a:avLst>
              <a:gd name="adj" fmla="val 6061"/>
            </a:avLst>
          </a:prstGeom>
          <a:solidFill>
            <a:srgbClr val="FBE9E8"/>
          </a:solidFill>
          <a:ln w="12700">
            <a:solidFill>
              <a:srgbClr val="FBE9E8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58368" y="1792224"/>
            <a:ext cx="274320" cy="274320"/>
          </a:xfrm>
          <a:prstGeom prst="ellipse">
            <a:avLst/>
          </a:prstGeom>
          <a:solidFill>
            <a:srgbClr val="E0443E"/>
          </a:solidFill>
          <a:ln w="12700">
            <a:solidFill>
              <a:srgbClr val="E0443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05840" y="178308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DDoS flood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2157984"/>
            <a:ext cx="21579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7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160 connections to one host inside 40 seconds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91840" y="1609344"/>
            <a:ext cx="2560320" cy="1207008"/>
          </a:xfrm>
          <a:prstGeom prst="roundRect">
            <a:avLst>
              <a:gd name="adj" fmla="val 6061"/>
            </a:avLst>
          </a:prstGeom>
          <a:solidFill>
            <a:srgbClr val="FBE9E8"/>
          </a:solidFill>
          <a:ln w="12700">
            <a:solidFill>
              <a:srgbClr val="FBE9E8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4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493008" y="1792224"/>
            <a:ext cx="274320" cy="274320"/>
          </a:xfrm>
          <a:prstGeom prst="ellipse">
            <a:avLst/>
          </a:prstGeom>
          <a:solidFill>
            <a:srgbClr val="E0443E"/>
          </a:solidFill>
          <a:ln w="12700">
            <a:solidFill>
              <a:srgbClr val="E0443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840480" y="178308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Port scan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493008" y="2157984"/>
            <a:ext cx="21579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7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campaigns, 25 distinct ports each over 150 seconds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26480" y="1609344"/>
            <a:ext cx="2560320" cy="1207008"/>
          </a:xfrm>
          <a:prstGeom prst="roundRect">
            <a:avLst>
              <a:gd name="adj" fmla="val 6061"/>
            </a:avLst>
          </a:prstGeom>
          <a:solidFill>
            <a:srgbClr val="FBE9E8"/>
          </a:solidFill>
          <a:ln w="12700">
            <a:solidFill>
              <a:srgbClr val="FBE9E8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4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327648" y="1792224"/>
            <a:ext cx="274320" cy="274320"/>
          </a:xfrm>
          <a:prstGeom prst="ellipse">
            <a:avLst/>
          </a:prstGeom>
          <a:solidFill>
            <a:srgbClr val="E0443E"/>
          </a:solidFill>
          <a:ln w="12700">
            <a:solidFill>
              <a:srgbClr val="E0443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675120" y="178308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Brute force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327648" y="2157984"/>
            <a:ext cx="21579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7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attempts on port 22 against one host over 4 minutes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090672"/>
            <a:ext cx="2560320" cy="1207008"/>
          </a:xfrm>
          <a:prstGeom prst="roundRect">
            <a:avLst>
              <a:gd name="adj" fmla="val 6061"/>
            </a:avLst>
          </a:prstGeom>
          <a:solidFill>
            <a:srgbClr val="FBE9E8"/>
          </a:solidFill>
          <a:ln w="12700">
            <a:solidFill>
              <a:srgbClr val="FBE9E8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4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58368" y="3273552"/>
            <a:ext cx="274320" cy="274320"/>
          </a:xfrm>
          <a:prstGeom prst="ellipse">
            <a:avLst/>
          </a:prstGeom>
          <a:solidFill>
            <a:srgbClr val="E0443E"/>
          </a:solidFill>
          <a:ln w="12700">
            <a:solidFill>
              <a:srgbClr val="E0443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005840" y="326440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exfiltration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58368" y="3639312"/>
            <a:ext cx="21579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7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campaigns moving 15-24 MB outbound each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91840" y="3090672"/>
            <a:ext cx="2560320" cy="1207008"/>
          </a:xfrm>
          <a:prstGeom prst="roundRect">
            <a:avLst>
              <a:gd name="adj" fmla="val 6061"/>
            </a:avLst>
          </a:prstGeom>
          <a:solidFill>
            <a:srgbClr val="EEF3FC"/>
          </a:solidFill>
          <a:ln w="12700">
            <a:solidFill>
              <a:srgbClr val="EEF3FC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4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493008" y="3273552"/>
            <a:ext cx="274320" cy="274320"/>
          </a:xfrm>
          <a:prstGeom prst="ellipse">
            <a:avLst/>
          </a:prstGeom>
          <a:solidFill>
            <a:srgbClr val="2E3F7F"/>
          </a:solidFill>
          <a:ln w="12700">
            <a:solidFill>
              <a:srgbClr val="2E3F7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840480" y="326440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Legacy services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3493008" y="3639312"/>
            <a:ext cx="21579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7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isolated connections to Telnet, SMB and RDP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126480" y="3090672"/>
            <a:ext cx="2560320" cy="1207008"/>
          </a:xfrm>
          <a:prstGeom prst="roundRect">
            <a:avLst>
              <a:gd name="adj" fmla="val 6061"/>
            </a:avLst>
          </a:prstGeom>
          <a:solidFill>
            <a:srgbClr val="EEF3FC"/>
          </a:solidFill>
          <a:ln w="12700">
            <a:solidFill>
              <a:srgbClr val="EEF3FC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4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327648" y="3273552"/>
            <a:ext cx="274320" cy="2743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675120" y="326440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Normal traffic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6327648" y="3639312"/>
            <a:ext cx="21579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7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4,725 ordinary outbound connections filling the week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density is the signal. Scattered attack records form no pattern and no rule can recover one.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Detection Rules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515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6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MATCH CARRIES A TYPE, A SEVERITY AND A DESCRIPTION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700784"/>
            <a:ext cx="402336" cy="402336"/>
          </a:xfrm>
          <a:prstGeom prst="ellipse">
            <a:avLst/>
          </a:prstGeom>
          <a:solidFill>
            <a:srgbClr val="2E3F7F"/>
          </a:solidFill>
          <a:ln w="12700">
            <a:solidFill>
              <a:srgbClr val="2E3F7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7007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987552" y="16459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Port scanning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3200400" y="1673352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100" kern="0" dirty="0">
                <a:solidFill>
                  <a:srgbClr val="2E3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987552" y="1956816"/>
            <a:ext cx="2990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7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than 10 distinct ports from one source in 5 min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709160" y="1700784"/>
            <a:ext cx="402336" cy="402336"/>
          </a:xfrm>
          <a:prstGeom prst="ellipse">
            <a:avLst/>
          </a:prstGeom>
          <a:solidFill>
            <a:srgbClr val="C2562F"/>
          </a:solidFill>
          <a:ln w="12700">
            <a:solidFill>
              <a:srgbClr val="C2562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709160" y="17007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5239512" y="16459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DDoS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7452360" y="1673352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100" kern="0" dirty="0">
                <a:solidFill>
                  <a:srgbClr val="C25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5239512" y="1956816"/>
            <a:ext cx="2990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7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than 100 connections to one host in 60 sec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57200" y="2843784"/>
            <a:ext cx="402336" cy="402336"/>
          </a:xfrm>
          <a:prstGeom prst="ellipse">
            <a:avLst/>
          </a:prstGeom>
          <a:solidFill>
            <a:srgbClr val="C2562F"/>
          </a:solidFill>
          <a:ln w="12700">
            <a:solidFill>
              <a:srgbClr val="C2562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57200" y="28437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987552" y="27889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Brute force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3200400" y="2816352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100" kern="0" dirty="0">
                <a:solidFill>
                  <a:srgbClr val="C25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987552" y="3099816"/>
            <a:ext cx="2990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7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than 20 attempts on port 22 in 5 min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709160" y="2843784"/>
            <a:ext cx="402336" cy="402336"/>
          </a:xfrm>
          <a:prstGeom prst="ellipse">
            <a:avLst/>
          </a:prstGeom>
          <a:solidFill>
            <a:srgbClr val="E0443E"/>
          </a:solidFill>
          <a:ln w="12700">
            <a:solidFill>
              <a:srgbClr val="E0443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709160" y="28437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5239512" y="27889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exfiltration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7452360" y="2816352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100" kern="0" dirty="0">
                <a:solidFill>
                  <a:srgbClr val="E04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5239512" y="3099816"/>
            <a:ext cx="2990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7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than 10 MB sent by one host in 10 min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57200" y="3986784"/>
            <a:ext cx="402336" cy="402336"/>
          </a:xfrm>
          <a:prstGeom prst="ellipse">
            <a:avLst/>
          </a:prstGeom>
          <a:solidFill>
            <a:srgbClr val="5B6788"/>
          </a:solidFill>
          <a:ln w="12700">
            <a:solidFill>
              <a:srgbClr val="5B6788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57200" y="39867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987552" y="39319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Uncommon port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3200400" y="3959352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100" kern="0" dirty="0">
                <a:solidFill>
                  <a:srgbClr val="5B6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987552" y="4242816"/>
            <a:ext cx="2990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7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to Telnet, SMB, RDP, SQL Server, MongoDB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4709160" y="3986784"/>
            <a:ext cx="402336" cy="402336"/>
          </a:xfrm>
          <a:prstGeom prst="ellipse">
            <a:avLst/>
          </a:prstGeom>
          <a:solidFill>
            <a:srgbClr val="2E3F7F"/>
          </a:solidFill>
          <a:ln w="12700">
            <a:solidFill>
              <a:srgbClr val="2E3F7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709160" y="39867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5239512" y="39319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Suspicious IP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7452360" y="3959352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100" kern="0" dirty="0">
                <a:solidFill>
                  <a:srgbClr val="2E3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5239512" y="4242816"/>
            <a:ext cx="2990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7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address inside a known-hostile range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Getting the Window Right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515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6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CORRECTNESS PROBLEM AT THE CENTRE OF THE PROJECT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627632"/>
            <a:ext cx="3977640" cy="2487168"/>
          </a:xfrm>
          <a:prstGeom prst="roundRect">
            <a:avLst>
              <a:gd name="adj" fmla="val 2941"/>
            </a:avLst>
          </a:prstGeom>
          <a:solidFill>
            <a:srgbClr val="FBE9E8"/>
          </a:solidFill>
          <a:ln w="12700">
            <a:solidFill>
              <a:srgbClr val="FBE9E8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1847088"/>
            <a:ext cx="310896" cy="310896"/>
          </a:xfrm>
          <a:prstGeom prst="ellipse">
            <a:avLst/>
          </a:prstGeom>
          <a:solidFill>
            <a:srgbClr val="E0443E"/>
          </a:solidFill>
          <a:ln w="12700">
            <a:solidFill>
              <a:srgbClr val="E0443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133856" y="182880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04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Anchored on wall-clock time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13232" y="2249424"/>
            <a:ext cx="34747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1720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timestamp &gt; datetime('now', '-60 seconds')</a:t>
            </a:r>
            <a:endParaRPr lang="en-US" sz="1200" dirty="0"/>
          </a:p>
          <a:p>
            <a:pPr indent="0" marL="0">
              <a:lnSpc>
                <a:spcPct val="1120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17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times were local, datetime('now') is UTC. The 5.5 hour gap let almost every record satisfy the window.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7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2,580 anomalies — 51% of all traffic — and a different answer at every hour of the day.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09160" y="1627632"/>
            <a:ext cx="3977640" cy="2487168"/>
          </a:xfrm>
          <a:prstGeom prst="roundRect">
            <a:avLst>
              <a:gd name="adj" fmla="val 2941"/>
            </a:avLst>
          </a:prstGeom>
          <a:solidFill>
            <a:srgbClr val="EEF3FC"/>
          </a:solidFill>
          <a:ln w="12700">
            <a:solidFill>
              <a:srgbClr val="EEF3FC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4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965192" y="1847088"/>
            <a:ext cx="310896" cy="310896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385816" y="182880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Anchored on log time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4965192" y="2249424"/>
            <a:ext cx="34747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1720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timestamp &gt; datetime(?, ?) AND timestamp &lt;= ?</a:t>
            </a:r>
            <a:endParaRPr lang="en-US" sz="1200" dirty="0"/>
          </a:p>
          <a:p>
            <a:pPr indent="0" marL="0">
              <a:lnSpc>
                <a:spcPct val="1120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17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window ends at the timestamp of the record being examined, so the query reads only what preceded it.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7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268 anomalies — 5.4% — identical on every run, in any timezone.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4279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detector whose output depends on when it runs cannot be evaluated, tuned or trusted.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515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6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REPRESENTATIVE RUN OVER 5,000 RECORDS</a:t>
            </a:r>
            <a:endParaRPr lang="en-US" sz="11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517904"/>
          <a:ext cx="534924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897880" y="1572768"/>
            <a:ext cx="2788920" cy="896112"/>
          </a:xfrm>
          <a:prstGeom prst="roundRect">
            <a:avLst>
              <a:gd name="adj" fmla="val 8163"/>
            </a:avLst>
          </a:prstGeom>
          <a:solidFill>
            <a:srgbClr val="EEF3FC"/>
          </a:solidFill>
          <a:ln w="12700">
            <a:solidFill>
              <a:srgbClr val="EEF3FC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4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108192" y="16459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268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6108192" y="212140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7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anomalies flagged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897880" y="2633472"/>
            <a:ext cx="2788920" cy="896112"/>
          </a:xfrm>
          <a:prstGeom prst="roundRect">
            <a:avLst>
              <a:gd name="adj" fmla="val 8163"/>
            </a:avLst>
          </a:prstGeom>
          <a:solidFill>
            <a:srgbClr val="EEF3FC"/>
          </a:solidFill>
          <a:ln w="12700">
            <a:solidFill>
              <a:srgbClr val="EEF3FC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4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6108192" y="2706624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5.4%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6108192" y="318211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7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all traffic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897880" y="3694176"/>
            <a:ext cx="2788920" cy="896112"/>
          </a:xfrm>
          <a:prstGeom prst="roundRect">
            <a:avLst>
              <a:gd name="adj" fmla="val 8163"/>
            </a:avLst>
          </a:prstGeom>
          <a:solidFill>
            <a:srgbClr val="FBE9E8"/>
          </a:solidFill>
          <a:ln w="12700">
            <a:solidFill>
              <a:srgbClr val="FBE9E8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4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6108192" y="376732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04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1.2 s</a:t>
            </a:r>
            <a:endParaRPr lang="en-US" sz="3000" dirty="0"/>
          </a:p>
        </p:txBody>
      </p:sp>
      <p:sp>
        <p:nvSpPr>
          <p:cNvPr id="13" name="Text 10"/>
          <p:cNvSpPr txBox="1"/>
          <p:nvPr/>
        </p:nvSpPr>
        <p:spPr>
          <a:xfrm>
            <a:off x="6108192" y="424281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7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pipeline runtime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Dashboard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515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6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VIEWS OVER THE SAME DETECTION OUTPUT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609344"/>
            <a:ext cx="384048" cy="38404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6093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969264" y="161848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Overview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2788920" y="1636776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7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 metrics: connections, anomalies, unique sources, volume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57200" y="2231136"/>
            <a:ext cx="384048" cy="38404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22311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969264" y="224028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Anomalies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2788920" y="2258568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7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and search detections by type, severity and address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57200" y="2852928"/>
            <a:ext cx="384048" cy="38404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28529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969264" y="286207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Traffic analysis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2788920" y="2880360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7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and protocol breakdowns over the week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57200" y="3474720"/>
            <a:ext cx="384048" cy="38404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7200" y="3474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969264" y="3483864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Threat heatmap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2788920" y="3502152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7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and when hostile activity concentrates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57200" y="4096512"/>
            <a:ext cx="384048" cy="38404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57200" y="40965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969264" y="4105656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 viewer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2788920" y="4123944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7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underlying records behind any figure on screen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400800" y="1609344"/>
            <a:ext cx="2286000" cy="2962656"/>
          </a:xfrm>
          <a:prstGeom prst="roundRect">
            <a:avLst>
              <a:gd name="adj" fmla="val 3200"/>
            </a:avLst>
          </a:prstGeom>
          <a:solidFill>
            <a:srgbClr val="EEF3FC"/>
          </a:solidFill>
          <a:ln w="12700">
            <a:solidFill>
              <a:srgbClr val="EEF3FC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4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6629400" y="18288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</a:t>
            </a:r>
            <a:endParaRPr lang="en-US" sz="3400" dirty="0"/>
          </a:p>
        </p:txBody>
      </p:sp>
      <p:sp>
        <p:nvSpPr>
          <p:cNvPr id="26" name="Text 24"/>
          <p:cNvSpPr txBox="1"/>
          <p:nvPr/>
        </p:nvSpPr>
        <p:spPr>
          <a:xfrm>
            <a:off x="6629400" y="2395728"/>
            <a:ext cx="1828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17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view reads the same database the detector writes. Nothing is recomputed for display, so the dashboard cannot disagree with the pipeline.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6629400" y="4114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localhost:8501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Engineering Guarantees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515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6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PROPERTIES THE SYSTEM HOLDS, AND HOW THEY WERE VERIFIED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3977640" cy="1325880"/>
          </a:xfrm>
          <a:prstGeom prst="roundRect">
            <a:avLst>
              <a:gd name="adj" fmla="val 5517"/>
            </a:avLst>
          </a:prstGeom>
          <a:solidFill>
            <a:srgbClr val="EEF3FC"/>
          </a:solidFill>
          <a:ln w="12700">
            <a:solidFill>
              <a:srgbClr val="EEF3FC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94944" y="1892808"/>
            <a:ext cx="292608" cy="29260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97280" y="187452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Deterministic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94944" y="2276856"/>
            <a:ext cx="351129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7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windows measure log time, never wall-clock time. Three independent runs returned 267, 267 and 268.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709160" y="1691640"/>
            <a:ext cx="3977640" cy="1325880"/>
          </a:xfrm>
          <a:prstGeom prst="roundRect">
            <a:avLst>
              <a:gd name="adj" fmla="val 5517"/>
            </a:avLst>
          </a:prstGeom>
          <a:solidFill>
            <a:srgbClr val="EEF3FC"/>
          </a:solidFill>
          <a:ln w="12700">
            <a:solidFill>
              <a:srgbClr val="EEF3FC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4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946904" y="1892808"/>
            <a:ext cx="292608" cy="29260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349240" y="187452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Idempotent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4946904" y="2276856"/>
            <a:ext cx="351129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7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Processed record identifiers are tracked, so re-running the detector over a scanned database adds nothing.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57200" y="3209544"/>
            <a:ext cx="3977640" cy="1325880"/>
          </a:xfrm>
          <a:prstGeom prst="roundRect">
            <a:avLst>
              <a:gd name="adj" fmla="val 5517"/>
            </a:avLst>
          </a:prstGeom>
          <a:solidFill>
            <a:srgbClr val="EEF3FC"/>
          </a:solidFill>
          <a:ln w="12700">
            <a:solidFill>
              <a:srgbClr val="EEF3FC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4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94944" y="3410712"/>
            <a:ext cx="292608" cy="29260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97280" y="3392424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Reproducible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694944" y="3794760"/>
            <a:ext cx="351129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7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Seeding the generator produces a byte-identical dataset, verified by matching MD5 digests.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709160" y="3209544"/>
            <a:ext cx="3977640" cy="1325880"/>
          </a:xfrm>
          <a:prstGeom prst="roundRect">
            <a:avLst>
              <a:gd name="adj" fmla="val 5517"/>
            </a:avLst>
          </a:prstGeom>
          <a:solidFill>
            <a:srgbClr val="EEF3FC"/>
          </a:solidFill>
          <a:ln w="12700">
            <a:solidFill>
              <a:srgbClr val="EEF3FC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4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946904" y="3410712"/>
            <a:ext cx="292608" cy="29260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349240" y="3392424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Injection-safe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4946904" y="3794760"/>
            <a:ext cx="351129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7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query is parameterised. No address, port or threshold is interpolated into SQL as a string.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515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6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CHOSEN FOR TRANSPARENCY OVER CONVENIENCE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49808" y="1737360"/>
            <a:ext cx="786384" cy="786384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26883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 3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98094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and rules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441448" y="1737360"/>
            <a:ext cx="786384" cy="786384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148840" y="26883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SQLite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2148840" y="298094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and indexes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133088" y="1737360"/>
            <a:ext cx="786384" cy="786384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840480" y="26883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pandas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840480" y="298094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handling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824728" y="1737360"/>
            <a:ext cx="786384" cy="786384"/>
          </a:xfrm>
          <a:prstGeom prst="ellipse">
            <a:avLst/>
          </a:prstGeom>
          <a:solidFill>
            <a:srgbClr val="2E3F7F"/>
          </a:solidFill>
          <a:ln w="12700">
            <a:solidFill>
              <a:srgbClr val="2E3F7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532120" y="26883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Streamlit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5532120" y="298094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516368" y="1737360"/>
            <a:ext cx="786384" cy="786384"/>
          </a:xfrm>
          <a:prstGeom prst="ellipse">
            <a:avLst/>
          </a:prstGeom>
          <a:solidFill>
            <a:srgbClr val="2E3F7F"/>
          </a:solidFill>
          <a:ln w="12700">
            <a:solidFill>
              <a:srgbClr val="2E3F7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223760" y="26883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Plotly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7223760" y="298094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57200" y="3584448"/>
            <a:ext cx="8229600" cy="987552"/>
          </a:xfrm>
          <a:prstGeom prst="roundRect">
            <a:avLst>
              <a:gd name="adj" fmla="val 7407"/>
            </a:avLst>
          </a:prstGeom>
          <a:solidFill>
            <a:srgbClr val="EEF3FC"/>
          </a:solidFill>
          <a:ln w="12700">
            <a:solidFill>
              <a:srgbClr val="EEF3FC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4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713232" y="3730752"/>
            <a:ext cx="771753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7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over machine learning.  </a:t>
            </a:r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7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detection can be traced to a threshold and explained to the person acting on it. A model that flags a connection without a reason is of little use to an analyst who must decide whether to block it.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7548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Project Shows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490472"/>
            <a:ext cx="274320" cy="274320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14400" y="1463040"/>
            <a:ext cx="4160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 pipeline from raw log to explained alert, running end to end in 1.2 seconds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2240280"/>
            <a:ext cx="274320" cy="274320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2212848"/>
            <a:ext cx="4160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that depends on the data alone — same input, same output, any machine, any hour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990088"/>
            <a:ext cx="274320" cy="274320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2962656"/>
            <a:ext cx="4160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attack classes recognised by their shape in time, each traceable to a stated threshold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0" y="1389888"/>
            <a:ext cx="3200400" cy="2377440"/>
          </a:xfrm>
          <a:prstGeom prst="roundRect">
            <a:avLst>
              <a:gd name="adj" fmla="val 3077"/>
            </a:avLst>
          </a:prstGeom>
          <a:solidFill>
            <a:srgbClr val="1A2747"/>
          </a:solidFill>
          <a:ln w="12700">
            <a:solidFill>
              <a:srgbClr val="1A2747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4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5760720" y="1591056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it goes next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5760720" y="2011680"/>
            <a:ext cx="26517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Replay against captured traffic</a:t>
            </a:r>
            <a:endParaRPr lang="en-US" sz="1150" dirty="0"/>
          </a:p>
          <a:p>
            <a:pPr marL="342900" indent="-342900">
              <a:lnSpc>
                <a:spcPct val="108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each host, alert on drift</a:t>
            </a:r>
            <a:endParaRPr lang="en-US" sz="1150" dirty="0"/>
          </a:p>
          <a:p>
            <a:pPr marL="342900" indent="-342900">
              <a:lnSpc>
                <a:spcPct val="108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Unsupervised model as a second opinion</a:t>
            </a:r>
            <a:endParaRPr lang="en-US" sz="115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ingest for live alerting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422452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5B6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 ·  Questions welcome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Network Logs Anomaly Detection</dc:title>
  <dc:subject>PptxGenJS Presentation</dc:subject>
  <dc:creator>Final Year Project</dc:creator>
  <cp:lastModifiedBy>Final Year Project</cp:lastModifiedBy>
  <cp:revision>1</cp:revision>
  <dcterms:created xsi:type="dcterms:W3CDTF">2026-09-18T17:09:00Z</dcterms:created>
  <dcterms:modified xsi:type="dcterms:W3CDTF">2026-09-18T17:09:00Z</dcterms:modified>
</cp:coreProperties>
</file>